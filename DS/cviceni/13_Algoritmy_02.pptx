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56" r:id="rId2"/>
    <p:sldId id="259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ka Kuklišová" userId="0399e331-5c69-4ab0-8875-f968d945d391" providerId="ADAL" clId="{957A0C19-F2A9-4674-837F-018AB445ACE1}"/>
    <pc:docChg chg="undo custSel modSld">
      <pc:chgData name="Lenka Kuklišová" userId="0399e331-5c69-4ab0-8875-f968d945d391" providerId="ADAL" clId="{957A0C19-F2A9-4674-837F-018AB445ACE1}" dt="2022-11-30T18:51:38.625" v="4" actId="20577"/>
      <pc:docMkLst>
        <pc:docMk/>
      </pc:docMkLst>
      <pc:sldChg chg="modSp mod">
        <pc:chgData name="Lenka Kuklišová" userId="0399e331-5c69-4ab0-8875-f968d945d391" providerId="ADAL" clId="{957A0C19-F2A9-4674-837F-018AB445ACE1}" dt="2022-11-30T18:51:38.625" v="4" actId="20577"/>
        <pc:sldMkLst>
          <pc:docMk/>
          <pc:sldMk cId="0" sldId="256"/>
        </pc:sldMkLst>
        <pc:spChg chg="mod">
          <ac:chgData name="Lenka Kuklišová" userId="0399e331-5c69-4ab0-8875-f968d945d391" providerId="ADAL" clId="{957A0C19-F2A9-4674-837F-018AB445ACE1}" dt="2022-11-30T18:51:38.625" v="4" actId="20577"/>
          <ac:spMkLst>
            <pc:docMk/>
            <pc:sldMk cId="0" sldId="256"/>
            <ac:spMk id="5123" creationId="{66CE8538-DC26-D226-F3E1-CE3BCFB704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2FC70D-AB02-AFCB-4D0E-322094C954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2E735EC-E529-252A-29AD-691820A164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45BA4B5-57C0-13B0-30D6-D481D514138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9D54E38-94E1-5BFA-B211-D1E62311F51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888B6C0-73C1-4082-8AD5-E64858347F43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9C25B2F-7BD5-7B41-F23B-0E4EA8DC3B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5A886AC-EF24-9C6F-AEC5-D163BD734B5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57335DA-F7D5-4FAA-BCA9-D816F7F5514D}" type="datetimeFigureOut">
              <a:rPr lang="cs-CZ"/>
              <a:pPr>
                <a:defRPr/>
              </a:pPr>
              <a:t>30.11.2022</a:t>
            </a:fld>
            <a:endParaRPr lang="cs-CZ"/>
          </a:p>
        </p:txBody>
      </p:sp>
      <p:sp>
        <p:nvSpPr>
          <p:cNvPr id="4" name="Zástupný symbol pro obrázek snímku 3">
            <a:extLst>
              <a:ext uri="{FF2B5EF4-FFF2-40B4-BE49-F238E27FC236}">
                <a16:creationId xmlns:a16="http://schemas.microsoft.com/office/drawing/2014/main" id="{C8993901-3410-7027-3D83-3FAEC19B7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>
            <a:extLst>
              <a:ext uri="{FF2B5EF4-FFF2-40B4-BE49-F238E27FC236}">
                <a16:creationId xmlns:a16="http://schemas.microsoft.com/office/drawing/2014/main" id="{6A84F802-EAB2-FDD5-5946-A286E04AE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/>
              <a:t>Kliknutím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94E5448-AAB3-EF8F-C669-C31973BD4B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2DDEC7D-30B6-4D2E-8967-22390DFF6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0A28C7C-50FF-4CD3-849E-F44C7D2E8759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Zástupný symbol pro obrázek snímku 1">
            <a:extLst>
              <a:ext uri="{FF2B5EF4-FFF2-40B4-BE49-F238E27FC236}">
                <a16:creationId xmlns:a16="http://schemas.microsoft.com/office/drawing/2014/main" id="{F8EC082C-BD59-627B-A100-D4FFD761C5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Zástupný symbol pro poznámky 2">
            <a:extLst>
              <a:ext uri="{FF2B5EF4-FFF2-40B4-BE49-F238E27FC236}">
                <a16:creationId xmlns:a16="http://schemas.microsoft.com/office/drawing/2014/main" id="{06BCD520-48A4-6F66-4000-B9EA2043C8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7172" name="Zástupný symbol pro číslo snímku 3">
            <a:extLst>
              <a:ext uri="{FF2B5EF4-FFF2-40B4-BE49-F238E27FC236}">
                <a16:creationId xmlns:a16="http://schemas.microsoft.com/office/drawing/2014/main" id="{1475704A-3E1C-455A-1AC4-4D59363CA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4C67CA-B7B8-4B1C-A1AD-5D04C0E89670}" type="slidenum">
              <a:rPr lang="cs-CZ" altLang="cs-CZ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Zástupný symbol pro obrázek snímku 1">
            <a:extLst>
              <a:ext uri="{FF2B5EF4-FFF2-40B4-BE49-F238E27FC236}">
                <a16:creationId xmlns:a16="http://schemas.microsoft.com/office/drawing/2014/main" id="{BF95189F-3C87-0F08-D40F-C0B87A90AB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Zástupný symbol pro poznámky 2">
            <a:extLst>
              <a:ext uri="{FF2B5EF4-FFF2-40B4-BE49-F238E27FC236}">
                <a16:creationId xmlns:a16="http://schemas.microsoft.com/office/drawing/2014/main" id="{741E98DA-2001-3EED-638A-DF40D49326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9220" name="Zástupný symbol pro číslo snímku 3">
            <a:extLst>
              <a:ext uri="{FF2B5EF4-FFF2-40B4-BE49-F238E27FC236}">
                <a16:creationId xmlns:a16="http://schemas.microsoft.com/office/drawing/2014/main" id="{D99FDDCD-D487-A0C1-85C3-150FC5D5F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D72DCAA-80E0-4B6D-ADE6-5583CEAE9392}" type="slidenum">
              <a:rPr lang="cs-CZ" altLang="cs-CZ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>
            <a:extLst>
              <a:ext uri="{FF2B5EF4-FFF2-40B4-BE49-F238E27FC236}">
                <a16:creationId xmlns:a16="http://schemas.microsoft.com/office/drawing/2014/main" id="{8D70AB5B-D73F-DDA6-9439-5CA3104506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Zástupný symbol pro poznámky 2">
            <a:extLst>
              <a:ext uri="{FF2B5EF4-FFF2-40B4-BE49-F238E27FC236}">
                <a16:creationId xmlns:a16="http://schemas.microsoft.com/office/drawing/2014/main" id="{EC18308D-D492-F196-EAD0-864D325288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1268" name="Zástupný symbol pro číslo snímku 3">
            <a:extLst>
              <a:ext uri="{FF2B5EF4-FFF2-40B4-BE49-F238E27FC236}">
                <a16:creationId xmlns:a16="http://schemas.microsoft.com/office/drawing/2014/main" id="{E77EAB14-578D-83E7-CDBB-EDB4BDD08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D79400-EB69-4D4A-A7B3-18776EC6505B}" type="slidenum">
              <a:rPr lang="cs-CZ" altLang="cs-CZ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Zástupný symbol pro obrázek snímku 1">
            <a:extLst>
              <a:ext uri="{FF2B5EF4-FFF2-40B4-BE49-F238E27FC236}">
                <a16:creationId xmlns:a16="http://schemas.microsoft.com/office/drawing/2014/main" id="{D1787141-843E-933D-AE33-61989F8E7D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Zástupný symbol pro poznámky 2">
            <a:extLst>
              <a:ext uri="{FF2B5EF4-FFF2-40B4-BE49-F238E27FC236}">
                <a16:creationId xmlns:a16="http://schemas.microsoft.com/office/drawing/2014/main" id="{ADDB94C9-02E1-BAE3-F74D-E8CC5ED574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cs-CZ" altLang="cs-CZ"/>
          </a:p>
        </p:txBody>
      </p:sp>
      <p:sp>
        <p:nvSpPr>
          <p:cNvPr id="13316" name="Zástupný symbol pro číslo snímku 3">
            <a:extLst>
              <a:ext uri="{FF2B5EF4-FFF2-40B4-BE49-F238E27FC236}">
                <a16:creationId xmlns:a16="http://schemas.microsoft.com/office/drawing/2014/main" id="{72F58CAE-441A-3C28-81F9-A55F2F756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EC3C1C-3F8B-4824-8787-2B96F98A6779}" type="slidenum">
              <a:rPr lang="cs-CZ" altLang="cs-CZ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cs-CZ" altLang="cs-CZ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F2C5E5-54E3-6800-A03B-7C6D9247550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1117AF6-4123-A0F6-3358-DBFE2BF0E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3D49D4-8AFF-1D7E-F230-13E2934ED67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7E0C4FE0-4EC4-83B6-E5E2-2AF3B58F1889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40444F55-D519-5351-9697-5CF26BD361A6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07705396-BB19-BC38-7BA7-018A42B79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C436DA32-BFA4-434C-93D4-502D036424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6" name="Rectangle 9">
                <a:extLst>
                  <a:ext uri="{FF2B5EF4-FFF2-40B4-BE49-F238E27FC236}">
                    <a16:creationId xmlns:a16="http://schemas.microsoft.com/office/drawing/2014/main" id="{8C15D894-B6FA-B352-34B9-BF55BA7FD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defRPr/>
                </a:pPr>
                <a:endParaRPr lang="cs-CZ" altLang="cs-CZ" sz="2400">
                  <a:latin typeface="Times New Roman" charset="0"/>
                </a:endParaRPr>
              </a:p>
            </p:txBody>
          </p:sp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C7DF2E57-1B1A-1D07-2B47-E227E8E0F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s-CZ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16874CAF-E551-B6DD-73FA-82E77FF50D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CD7259C-5E86-61A0-65D7-E4D4725B2A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454D917-7135-A96D-33B2-55BF57BC6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237E0909-4456-41D5-9421-067DBBB85D66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4218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27456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31882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81743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31443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294722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80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244629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  <p:extLst>
      <p:ext uri="{BB962C8B-B14F-4D97-AF65-F5344CB8AC3E}">
        <p14:creationId xmlns:p14="http://schemas.microsoft.com/office/powerpoint/2010/main" val="1051349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89498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7011988" y="0"/>
            <a:ext cx="2132012" cy="68580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11188" y="0"/>
            <a:ext cx="6248400" cy="68580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541495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188" y="0"/>
            <a:ext cx="8532812" cy="836613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611188" y="1052513"/>
            <a:ext cx="4189412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953000" y="1052513"/>
            <a:ext cx="4191000" cy="580548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313745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D14CC502-801E-5B61-48DC-9551422FA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09600" cy="487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cs-CZ" altLang="cs-CZ" sz="2400">
              <a:latin typeface="Times New Roman" charset="0"/>
            </a:endParaRPr>
          </a:p>
        </p:txBody>
      </p:sp>
      <p:grpSp>
        <p:nvGrpSpPr>
          <p:cNvPr id="1027" name="Group 4">
            <a:extLst>
              <a:ext uri="{FF2B5EF4-FFF2-40B4-BE49-F238E27FC236}">
                <a16:creationId xmlns:a16="http://schemas.microsoft.com/office/drawing/2014/main" id="{8A5AA032-3007-E9C7-0DB2-3F388FAF1AE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836613"/>
            <a:ext cx="8305800" cy="182562"/>
            <a:chOff x="240" y="893"/>
            <a:chExt cx="5232" cy="115"/>
          </a:xfrm>
        </p:grpSpPr>
        <p:sp>
          <p:nvSpPr>
            <p:cNvPr id="1031" name="Rectangle 5">
              <a:extLst>
                <a:ext uri="{FF2B5EF4-FFF2-40B4-BE49-F238E27FC236}">
                  <a16:creationId xmlns:a16="http://schemas.microsoft.com/office/drawing/2014/main" id="{E54B4573-D3A4-4846-007A-3B6E08CC6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cs-CZ" altLang="cs-CZ" sz="2400">
                <a:latin typeface="Times New Roman" charset="0"/>
              </a:endParaRPr>
            </a:p>
          </p:txBody>
        </p:sp>
        <p:sp>
          <p:nvSpPr>
            <p:cNvPr id="1032" name="Line 6">
              <a:extLst>
                <a:ext uri="{FF2B5EF4-FFF2-40B4-BE49-F238E27FC236}">
                  <a16:creationId xmlns:a16="http://schemas.microsoft.com/office/drawing/2014/main" id="{F39A19CE-963B-46F8-D452-4A4C6925A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28" name="Rectangle 7">
            <a:extLst>
              <a:ext uri="{FF2B5EF4-FFF2-40B4-BE49-F238E27FC236}">
                <a16:creationId xmlns:a16="http://schemas.microsoft.com/office/drawing/2014/main" id="{F8FF8DCC-E833-FE87-0E9D-1CB4888C3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0"/>
            <a:ext cx="853281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3C8E81BD-3231-AF46-52DA-63E953254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30" name="Line 12">
            <a:extLst>
              <a:ext uri="{FF2B5EF4-FFF2-40B4-BE49-F238E27FC236}">
                <a16:creationId xmlns:a16="http://schemas.microsoft.com/office/drawing/2014/main" id="{349BBC91-B57F-DEB6-D2DE-D8E2201D7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C38D674-306D-B197-C684-7BD5FFF763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cs-CZ" altLang="cs-CZ" b="1">
                <a:latin typeface="Calibri" panose="020F0502020204030204" pitchFamily="34" charset="0"/>
              </a:rPr>
              <a:t>Diskrétní struktury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6CE8538-DC26-D226-F3E1-CE3BCFB704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cs-CZ">
                <a:latin typeface="Calibri" panose="020F0502020204030204" pitchFamily="34" charset="0"/>
              </a:rPr>
              <a:t>Cvičení 13</a:t>
            </a:r>
            <a:endParaRPr lang="cs-CZ" altLang="cs-CZ" dirty="0">
              <a:latin typeface="Calibri" panose="020F0502020204030204" pitchFamily="34" charset="0"/>
            </a:endParaRPr>
          </a:p>
          <a:p>
            <a:pPr eaLnBrk="1" hangingPunct="1"/>
            <a:r>
              <a:rPr lang="cs-CZ" altLang="cs-CZ" b="1" dirty="0">
                <a:latin typeface="Calibri" panose="020F0502020204030204" pitchFamily="34" charset="0"/>
              </a:rPr>
              <a:t>Grafové algoritmy (2)</a:t>
            </a:r>
          </a:p>
        </p:txBody>
      </p:sp>
      <p:pic>
        <p:nvPicPr>
          <p:cNvPr id="5124" name="Obrázek 1">
            <a:extLst>
              <a:ext uri="{FF2B5EF4-FFF2-40B4-BE49-F238E27FC236}">
                <a16:creationId xmlns:a16="http://schemas.microsoft.com/office/drawing/2014/main" id="{682BC462-BB27-A77E-0FA6-74472A29D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789363"/>
            <a:ext cx="15240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5">
            <a:extLst>
              <a:ext uri="{FF2B5EF4-FFF2-40B4-BE49-F238E27FC236}">
                <a16:creationId xmlns:a16="http://schemas.microsoft.com/office/drawing/2014/main" id="{C4B9A937-B882-E457-E937-D2FCA2E24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1049338"/>
            <a:ext cx="80803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1339F45-1F82-8B1A-4199-3A2B51624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silné komponenty</a:t>
            </a:r>
          </a:p>
        </p:txBody>
      </p:sp>
      <p:sp>
        <p:nvSpPr>
          <p:cNvPr id="6148" name="TextovéPole 1">
            <a:extLst>
              <a:ext uri="{FF2B5EF4-FFF2-40B4-BE49-F238E27FC236}">
                <a16:creationId xmlns:a16="http://schemas.microsoft.com/office/drawing/2014/main" id="{10F3E789-A7FC-AD56-CFE3-CC188FF1A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E8A5B3-10A3-4DD6-BF04-C975C8195643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100"/>
          </a:p>
        </p:txBody>
      </p:sp>
      <p:sp>
        <p:nvSpPr>
          <p:cNvPr id="44" name="TextovéPole 43">
            <a:extLst>
              <a:ext uri="{FF2B5EF4-FFF2-40B4-BE49-F238E27FC236}">
                <a16:creationId xmlns:a16="http://schemas.microsoft.com/office/drawing/2014/main" id="{257D53F9-85B8-587C-87EB-25227EFCD7F8}"/>
              </a:ext>
            </a:extLst>
          </p:cNvPr>
          <p:cNvSpPr txBox="1"/>
          <p:nvPr/>
        </p:nvSpPr>
        <p:spPr>
          <a:xfrm>
            <a:off x="714375" y="1077913"/>
            <a:ext cx="600075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cs-CZ" sz="1400" b="1" dirty="0">
                <a:latin typeface="+mj-lt"/>
              </a:rPr>
              <a:t>Příklad</a:t>
            </a:r>
          </a:p>
        </p:txBody>
      </p:sp>
      <p:pic>
        <p:nvPicPr>
          <p:cNvPr id="6150" name="Picture 26">
            <a:extLst>
              <a:ext uri="{FF2B5EF4-FFF2-40B4-BE49-F238E27FC236}">
                <a16:creationId xmlns:a16="http://schemas.microsoft.com/office/drawing/2014/main" id="{51794BAD-DF38-5029-1F7C-422D78094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2308225"/>
            <a:ext cx="4159250" cy="191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ED93980E-346E-08FB-261C-28D81E821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 pitchFamily="34" charset="0"/>
              </a:rPr>
              <a:t>Příklad:</a:t>
            </a:r>
            <a:r>
              <a:rPr lang="cs-CZ" sz="2400" kern="0" dirty="0">
                <a:latin typeface="Calibri" pitchFamily="34" charset="0"/>
              </a:rPr>
              <a:t> Simulujte provedení Jarníkova-Primova algoritmu na grafu z obrázku počínaje uzlem vpravo nahoře (a dalšími uzly).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7E2AFA5E-771E-54BC-1332-E4A8DF5E7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minimální kostra</a:t>
            </a:r>
          </a:p>
        </p:txBody>
      </p:sp>
      <p:sp>
        <p:nvSpPr>
          <p:cNvPr id="8196" name="TextovéPole 1">
            <a:extLst>
              <a:ext uri="{FF2B5EF4-FFF2-40B4-BE49-F238E27FC236}">
                <a16:creationId xmlns:a16="http://schemas.microsoft.com/office/drawing/2014/main" id="{F69EE666-BEF6-A286-6F02-04654CE5C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EBAB19-1DBC-4B2A-A586-F3C5C45D4549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cs-CZ" altLang="cs-CZ" sz="1100"/>
          </a:p>
        </p:txBody>
      </p:sp>
      <p:pic>
        <p:nvPicPr>
          <p:cNvPr id="8197" name="Picture 2">
            <a:extLst>
              <a:ext uri="{FF2B5EF4-FFF2-40B4-BE49-F238E27FC236}">
                <a16:creationId xmlns:a16="http://schemas.microsoft.com/office/drawing/2014/main" id="{625E8C94-8428-0526-72A4-B362B6803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2047875"/>
            <a:ext cx="701040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D9F656F2-47E8-6E74-81E7-6E57F4847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b="1" kern="0" dirty="0">
                <a:latin typeface="Calibri" pitchFamily="34" charset="0"/>
              </a:rPr>
              <a:t>Příklad:</a:t>
            </a:r>
            <a:r>
              <a:rPr lang="cs-CZ" sz="2400" kern="0" dirty="0">
                <a:latin typeface="Calibri" pitchFamily="34" charset="0"/>
              </a:rPr>
              <a:t> Vytvořte </a:t>
            </a:r>
            <a:r>
              <a:rPr lang="cs-CZ" sz="2400" kern="0" dirty="0" err="1">
                <a:latin typeface="Calibri" pitchFamily="34" charset="0"/>
              </a:rPr>
              <a:t>Huffmanův</a:t>
            </a:r>
            <a:r>
              <a:rPr lang="cs-CZ" sz="2400" kern="0" dirty="0">
                <a:latin typeface="Calibri" pitchFamily="34" charset="0"/>
              </a:rPr>
              <a:t> kód pro množinu symbolů s pravděpodobnostmi: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</a:rPr>
              <a:t>   A        B        C        D        E         F        G        H        I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</a:rPr>
              <a:t>1/23  1/23  1/23  1/23  3/23  3/23  3/23  3/23  7/23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347E5235-CC61-31BF-34D4-D506040C7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– </a:t>
            </a:r>
            <a:r>
              <a:rPr lang="cs-CZ" sz="3200" b="1" kern="1200" dirty="0" err="1">
                <a:solidFill>
                  <a:srgbClr val="FF0000"/>
                </a:solidFill>
                <a:latin typeface="Calibri" pitchFamily="34" charset="0"/>
              </a:rPr>
              <a:t>Huffmanův</a:t>
            </a: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 kód</a:t>
            </a:r>
          </a:p>
        </p:txBody>
      </p:sp>
      <p:sp>
        <p:nvSpPr>
          <p:cNvPr id="10244" name="TextovéPole 1">
            <a:extLst>
              <a:ext uri="{FF2B5EF4-FFF2-40B4-BE49-F238E27FC236}">
                <a16:creationId xmlns:a16="http://schemas.microsoft.com/office/drawing/2014/main" id="{9BA09162-E1B7-9D61-069A-C52E512C5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8A684C-9107-40FB-AB52-1488B3504E3E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92DEA0E0-CF41-8839-F65A-4C98F17C8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532812" cy="58054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cs-CZ" sz="2400" b="1" kern="0" dirty="0">
              <a:latin typeface="Calibri" pitchFamily="34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cs-CZ" sz="2400" kern="0" dirty="0">
                <a:latin typeface="Calibri" pitchFamily="34" charset="0"/>
              </a:rPr>
              <a:t>Pro další ukázání relaxace hrany zkuste řešit tentýž úkol při ohodnocení hrany (</a:t>
            </a:r>
            <a:r>
              <a:rPr lang="cs-CZ" sz="2400" kern="0" dirty="0" err="1">
                <a:latin typeface="Calibri" pitchFamily="34" charset="0"/>
              </a:rPr>
              <a:t>y,v</a:t>
            </a:r>
            <a:r>
              <a:rPr lang="cs-CZ" sz="2400" kern="0" dirty="0">
                <a:latin typeface="Calibri" pitchFamily="34" charset="0"/>
              </a:rPr>
              <a:t>) na 40 a ohodnocení hrany (</a:t>
            </a:r>
            <a:r>
              <a:rPr lang="cs-CZ" sz="2400" kern="0" dirty="0" err="1">
                <a:latin typeface="Calibri" pitchFamily="34" charset="0"/>
              </a:rPr>
              <a:t>x,v</a:t>
            </a:r>
            <a:r>
              <a:rPr lang="cs-CZ" sz="2400" kern="0" dirty="0">
                <a:latin typeface="Calibri" pitchFamily="34" charset="0"/>
              </a:rPr>
              <a:t>) na 3.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22A89462-2529-0514-746E-95203D4F5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cs-CZ" sz="3200" b="1" kern="1200" dirty="0">
                <a:solidFill>
                  <a:srgbClr val="FF0000"/>
                </a:solidFill>
                <a:latin typeface="Calibri" pitchFamily="34" charset="0"/>
              </a:rPr>
              <a:t>Grafové algoritmy </a:t>
            </a:r>
            <a:r>
              <a:rPr lang="cs-CZ" sz="3200" b="1" kern="1200">
                <a:solidFill>
                  <a:srgbClr val="FF0000"/>
                </a:solidFill>
                <a:latin typeface="Calibri" pitchFamily="34" charset="0"/>
              </a:rPr>
              <a:t>– nejkratší cesta</a:t>
            </a:r>
            <a:endParaRPr lang="cs-CZ" sz="3200" b="1" kern="1200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2292" name="TextovéPole 1">
            <a:extLst>
              <a:ext uri="{FF2B5EF4-FFF2-40B4-BE49-F238E27FC236}">
                <a16:creationId xmlns:a16="http://schemas.microsoft.com/office/drawing/2014/main" id="{D9F61C6C-57D2-B0BF-2600-496CB7D02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96063"/>
            <a:ext cx="3603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43382B-6CBF-463B-B40B-0513B751DC33}" type="slidenum">
              <a:rPr lang="cs-CZ" altLang="cs-CZ" sz="11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100"/>
          </a:p>
        </p:txBody>
      </p:sp>
      <p:pic>
        <p:nvPicPr>
          <p:cNvPr id="12293" name="Picture 2">
            <a:extLst>
              <a:ext uri="{FF2B5EF4-FFF2-40B4-BE49-F238E27FC236}">
                <a16:creationId xmlns:a16="http://schemas.microsoft.com/office/drawing/2014/main" id="{290B9C00-9D67-2D6A-F257-65287DCA7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1027113"/>
            <a:ext cx="8067675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A36BC00E-7E1E-0ABE-0354-E97747E15B04}"/>
              </a:ext>
            </a:extLst>
          </p:cNvPr>
          <p:cNvSpPr txBox="1"/>
          <p:nvPr/>
        </p:nvSpPr>
        <p:spPr>
          <a:xfrm>
            <a:off x="714375" y="1077913"/>
            <a:ext cx="600075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cs-CZ" sz="1400" b="1" dirty="0">
                <a:latin typeface="+mj-lt"/>
              </a:rPr>
              <a:t>Příklad</a:t>
            </a:r>
          </a:p>
        </p:txBody>
      </p:sp>
      <p:pic>
        <p:nvPicPr>
          <p:cNvPr id="12295" name="Picture 3">
            <a:extLst>
              <a:ext uri="{FF2B5EF4-FFF2-40B4-BE49-F238E27FC236}">
                <a16:creationId xmlns:a16="http://schemas.microsoft.com/office/drawing/2014/main" id="{7CEBD5ED-3598-911A-AA08-201F64056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2060575"/>
            <a:ext cx="3308350" cy="191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rstvy">
  <a:themeElements>
    <a:clrScheme name="Vrstvy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Vrstvy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rstvy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rstvy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rstvy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2145</TotalTime>
  <Words>118</Words>
  <Application>Microsoft Office PowerPoint</Application>
  <PresentationFormat>Předvádění na obrazovce (4:3)</PresentationFormat>
  <Paragraphs>29</Paragraphs>
  <Slides>5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Vrstvy</vt:lpstr>
      <vt:lpstr>Diskrétní struktury</vt:lpstr>
      <vt:lpstr>Grafové algoritmy – silné komponenty</vt:lpstr>
      <vt:lpstr>Grafové algoritmy – minimální kostra</vt:lpstr>
      <vt:lpstr>Grafové algoritmy – Huffmanův kód</vt:lpstr>
      <vt:lpstr>Grafové algoritmy – nejkratší cesta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doc. Ing. Zbyněk Bureš, Ph.D.</dc:creator>
  <cp:lastModifiedBy>Lenka Kuklišová</cp:lastModifiedBy>
  <cp:revision>402</cp:revision>
  <dcterms:created xsi:type="dcterms:W3CDTF">2009-09-01T07:13:17Z</dcterms:created>
  <dcterms:modified xsi:type="dcterms:W3CDTF">2022-11-30T18:51:38Z</dcterms:modified>
</cp:coreProperties>
</file>