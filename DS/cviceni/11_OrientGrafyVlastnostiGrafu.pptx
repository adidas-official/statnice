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56" r:id="rId2"/>
    <p:sldId id="259" r:id="rId3"/>
    <p:sldId id="263" r:id="rId4"/>
    <p:sldId id="260" r:id="rId5"/>
    <p:sldId id="261" r:id="rId6"/>
    <p:sldId id="264" r:id="rId7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C51D9-077A-7FD6-AB82-A3A3A146E2E3}" v="14" dt="2022-12-23T15:58:52.056"/>
    <p1510:client id="{F6869855-6FA2-4039-8854-C2D1E3FE4984}" v="7" dt="2022-11-30T18:40:06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BAAE467-365D-BC11-F889-933B0BF354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292480C-E036-FF0D-F31F-AD8F0D7837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7735B0B2-6E49-E552-5766-5E84161F754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0B808FB0-508F-8B4C-6201-77E9B92ED3B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5F45BB3-6B27-47F8-9EB1-05B4C3BB9991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F9C55AED-C1FC-7084-1E69-B2326385D4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3D4ABD9-5E2C-7C66-F58C-A7FAF82A086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1A69B658-6394-4120-9951-B91FA6A17EFC}" type="datetimeFigureOut">
              <a:rPr lang="cs-CZ"/>
              <a:pPr>
                <a:defRPr/>
              </a:pPr>
              <a:t>23.12.2022</a:t>
            </a:fld>
            <a:endParaRPr lang="cs-CZ"/>
          </a:p>
        </p:txBody>
      </p:sp>
      <p:sp>
        <p:nvSpPr>
          <p:cNvPr id="4" name="Zástupný symbol pro obrázek snímku 3">
            <a:extLst>
              <a:ext uri="{FF2B5EF4-FFF2-40B4-BE49-F238E27FC236}">
                <a16:creationId xmlns:a16="http://schemas.microsoft.com/office/drawing/2014/main" id="{DA7E3876-97C3-BC4F-FCA1-EF53052B8C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>
            <a:extLst>
              <a:ext uri="{FF2B5EF4-FFF2-40B4-BE49-F238E27FC236}">
                <a16:creationId xmlns:a16="http://schemas.microsoft.com/office/drawing/2014/main" id="{77156706-4E28-BBE4-4503-850A33A55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Kliknutím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CDAA7A7-39C7-2270-A3A2-07726FA8BD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72A1B30-CB49-B750-FBED-241941927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EDC597-63B7-4321-89B6-D3ADB5848F35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Zástupný symbol pro obrázek snímku 1">
            <a:extLst>
              <a:ext uri="{FF2B5EF4-FFF2-40B4-BE49-F238E27FC236}">
                <a16:creationId xmlns:a16="http://schemas.microsoft.com/office/drawing/2014/main" id="{20A1159B-2DB5-3AF5-0CCE-515AE2DD0F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Zástupný symbol pro poznámky 2">
            <a:extLst>
              <a:ext uri="{FF2B5EF4-FFF2-40B4-BE49-F238E27FC236}">
                <a16:creationId xmlns:a16="http://schemas.microsoft.com/office/drawing/2014/main" id="{841D1357-C1BA-9500-2A5C-74B3B3A468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8196" name="Zástupný symbol pro číslo snímku 3">
            <a:extLst>
              <a:ext uri="{FF2B5EF4-FFF2-40B4-BE49-F238E27FC236}">
                <a16:creationId xmlns:a16="http://schemas.microsoft.com/office/drawing/2014/main" id="{DAF7DB53-5370-2331-0E7E-07BBCAD43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FD1E768-78EA-4CD7-9C3C-047BB7C662E7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Zástupný symbol pro obrázek snímku 1">
            <a:extLst>
              <a:ext uri="{FF2B5EF4-FFF2-40B4-BE49-F238E27FC236}">
                <a16:creationId xmlns:a16="http://schemas.microsoft.com/office/drawing/2014/main" id="{53A8A70A-81AA-0DCD-1EE6-7CB9D0827C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Zástupný symbol pro poznámky 2">
            <a:extLst>
              <a:ext uri="{FF2B5EF4-FFF2-40B4-BE49-F238E27FC236}">
                <a16:creationId xmlns:a16="http://schemas.microsoft.com/office/drawing/2014/main" id="{C6EEB615-F040-F4FB-2593-65DF42E405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9220" name="Zástupný symbol pro číslo snímku 3">
            <a:extLst>
              <a:ext uri="{FF2B5EF4-FFF2-40B4-BE49-F238E27FC236}">
                <a16:creationId xmlns:a16="http://schemas.microsoft.com/office/drawing/2014/main" id="{6D7600F8-EA0E-401F-D2F3-D0C0EAFD4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8E06283-3080-47D7-8ECC-43B5B93A99E4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Zástupný symbol pro obrázek snímku 1">
            <a:extLst>
              <a:ext uri="{FF2B5EF4-FFF2-40B4-BE49-F238E27FC236}">
                <a16:creationId xmlns:a16="http://schemas.microsoft.com/office/drawing/2014/main" id="{8E573D4C-F7E5-D8AB-7541-12B7673614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Zástupný symbol pro poznámky 2">
            <a:extLst>
              <a:ext uri="{FF2B5EF4-FFF2-40B4-BE49-F238E27FC236}">
                <a16:creationId xmlns:a16="http://schemas.microsoft.com/office/drawing/2014/main" id="{FC5F27FB-8837-1B87-464F-8F07BEEBB7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0244" name="Zástupný symbol pro číslo snímku 3">
            <a:extLst>
              <a:ext uri="{FF2B5EF4-FFF2-40B4-BE49-F238E27FC236}">
                <a16:creationId xmlns:a16="http://schemas.microsoft.com/office/drawing/2014/main" id="{4D3A2F24-4E70-0977-E636-E45E6BDA3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973E9E9-C065-4813-B95F-A2F45286FA4C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Zástupný symbol pro obrázek snímku 1">
            <a:extLst>
              <a:ext uri="{FF2B5EF4-FFF2-40B4-BE49-F238E27FC236}">
                <a16:creationId xmlns:a16="http://schemas.microsoft.com/office/drawing/2014/main" id="{5C410488-97BF-93B7-000B-88575025AD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Zástupný symbol pro poznámky 2">
            <a:extLst>
              <a:ext uri="{FF2B5EF4-FFF2-40B4-BE49-F238E27FC236}">
                <a16:creationId xmlns:a16="http://schemas.microsoft.com/office/drawing/2014/main" id="{EE5E5302-9848-DEF4-6CA4-D1169E158A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7172" name="Zástupný symbol pro číslo snímku 3">
            <a:extLst>
              <a:ext uri="{FF2B5EF4-FFF2-40B4-BE49-F238E27FC236}">
                <a16:creationId xmlns:a16="http://schemas.microsoft.com/office/drawing/2014/main" id="{24FE8604-2F8B-6544-669A-0511650F0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AEEF054-CBA3-494F-9076-2D248714FD29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A8545C-F611-5301-B37F-C0D81833506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F5B7E9FC-915A-A181-9206-3EED38FCD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012054D-52A5-01D7-8145-931313D78D8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20E0E458-A414-8FCE-0406-8AB614E6C20F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EE339C2C-0C7E-CD4B-79F0-8AF26BB88007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7EF9D35E-3946-C517-82E9-07349D4DF7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65518380-9E47-470E-AB15-4D5C04F4AD2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828B5639-4CD8-A3AE-288E-2FCA1B622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D2C6ED28-A3B8-A53E-2304-F6B32B0F2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758C55D5-E4A1-9941-3BB7-79FFE02B21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76C1944-1E3B-4205-B231-3D36951665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C03BB9F7-5BC1-AF98-FB8E-E3113EBEF4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3FDC2BB7-3BC1-48A4-B6CF-23392C62A8D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857873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7226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56420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7489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197696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161646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91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62329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45473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82854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2012" cy="6858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11188" y="0"/>
            <a:ext cx="6248400" cy="6858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032327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188" y="0"/>
            <a:ext cx="8532812" cy="836613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416559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07F303F4-A785-1402-C888-FCBD5C53D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cs-CZ" altLang="cs-CZ" sz="2400">
              <a:latin typeface="Times New Roman" charset="0"/>
            </a:endParaRPr>
          </a:p>
        </p:txBody>
      </p:sp>
      <p:grpSp>
        <p:nvGrpSpPr>
          <p:cNvPr id="1027" name="Group 4">
            <a:extLst>
              <a:ext uri="{FF2B5EF4-FFF2-40B4-BE49-F238E27FC236}">
                <a16:creationId xmlns:a16="http://schemas.microsoft.com/office/drawing/2014/main" id="{89D379DD-D365-E40D-8167-24889004785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6613"/>
            <a:ext cx="8305800" cy="182562"/>
            <a:chOff x="240" y="893"/>
            <a:chExt cx="5232" cy="115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254FFB7E-ED54-1D2C-EE25-937044B73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9C2B7FC2-582A-5794-1517-2AE8B1B3F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5A1493CE-2335-3930-01CF-7B937AA54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0"/>
            <a:ext cx="85328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B92744CF-0DAC-60D0-6935-32CF63BE0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F5BF98F0-B3E9-6CD3-FBFB-62702EEB5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5E7999C-4C2B-2E07-5909-7A807C4BBA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Diskrétní struktury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54B241-E19D-F9B2-0946-FFDD9C6469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cs-CZ" dirty="0">
                <a:latin typeface="Calibri" panose="020F0502020204030204" pitchFamily="34" charset="0"/>
              </a:rPr>
              <a:t>Cvičení 11</a:t>
            </a:r>
          </a:p>
          <a:p>
            <a:pPr eaLnBrk="1" hangingPunct="1"/>
            <a:r>
              <a:rPr lang="cs-CZ" altLang="cs-CZ" b="1" dirty="0">
                <a:latin typeface="Calibri" panose="020F0502020204030204" pitchFamily="34" charset="0"/>
              </a:rPr>
              <a:t>Orientované grafy, </a:t>
            </a:r>
            <a:r>
              <a:rPr lang="cs-CZ" altLang="cs-CZ" b="1">
                <a:latin typeface="Calibri" panose="020F0502020204030204" pitchFamily="34" charset="0"/>
              </a:rPr>
              <a:t>vlastnosti grafů</a:t>
            </a:r>
            <a:endParaRPr lang="cs-CZ" altLang="cs-CZ" b="1" dirty="0">
              <a:latin typeface="Calibri" panose="020F0502020204030204" pitchFamily="34" charset="0"/>
            </a:endParaRPr>
          </a:p>
        </p:txBody>
      </p:sp>
      <p:pic>
        <p:nvPicPr>
          <p:cNvPr id="3076" name="Obrázek 1">
            <a:extLst>
              <a:ext uri="{FF2B5EF4-FFF2-40B4-BE49-F238E27FC236}">
                <a16:creationId xmlns:a16="http://schemas.microsoft.com/office/drawing/2014/main" id="{0B8F7AB3-0D0A-8050-7790-424827D5B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789363"/>
            <a:ext cx="15240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DD702E8-86AE-ED4A-FDCF-4A10EBF34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>
                <a:solidFill>
                  <a:srgbClr val="FF0000"/>
                </a:solidFill>
                <a:latin typeface="Calibri" pitchFamily="34" charset="0"/>
              </a:rPr>
              <a:t>Orientované grafy</a:t>
            </a:r>
          </a:p>
        </p:txBody>
      </p:sp>
      <p:sp>
        <p:nvSpPr>
          <p:cNvPr id="4101" name="TextovéPole 1">
            <a:extLst>
              <a:ext uri="{FF2B5EF4-FFF2-40B4-BE49-F238E27FC236}">
                <a16:creationId xmlns:a16="http://schemas.microsoft.com/office/drawing/2014/main" id="{4159FEAF-2FD3-60D9-063C-CB9E8C8AD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69E47AC-13C5-4BF1-958E-448A05FB0922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cs-CZ" altLang="cs-CZ" sz="1100"/>
          </a:p>
        </p:txBody>
      </p:sp>
      <p:sp>
        <p:nvSpPr>
          <p:cNvPr id="36" name="TextovéPole 35">
            <a:extLst>
              <a:ext uri="{FF2B5EF4-FFF2-40B4-BE49-F238E27FC236}">
                <a16:creationId xmlns:a16="http://schemas.microsoft.com/office/drawing/2014/main" id="{712B6E94-BD84-7FA6-DC0C-788F8BD3F8D7}"/>
              </a:ext>
            </a:extLst>
          </p:cNvPr>
          <p:cNvSpPr txBox="1"/>
          <p:nvPr/>
        </p:nvSpPr>
        <p:spPr>
          <a:xfrm>
            <a:off x="755650" y="1209675"/>
            <a:ext cx="658813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endParaRPr lang="cs-CZ" sz="1400" b="1">
              <a:latin typeface="+mj-lt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79155AF-B08F-9801-5AE9-2835F4DF9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3717032"/>
            <a:ext cx="3432815" cy="2836763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9C61258-05A0-3812-0785-AF1D84439A8A}"/>
              </a:ext>
            </a:extLst>
          </p:cNvPr>
          <p:cNvSpPr txBox="1"/>
          <p:nvPr/>
        </p:nvSpPr>
        <p:spPr>
          <a:xfrm>
            <a:off x="779776" y="1491923"/>
            <a:ext cx="82499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arenR"/>
            </a:pPr>
            <a:r>
              <a:rPr lang="cs-CZ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Pro orientovaný graf G1 </a:t>
            </a:r>
            <a:r>
              <a:rPr lang="cs-CZ" sz="2000" dirty="0">
                <a:latin typeface="Calibri" panose="020F0502020204030204" pitchFamily="34" charset="0"/>
                <a:cs typeface="Calibri" panose="020F0502020204030204" pitchFamily="34" charset="0"/>
              </a:rPr>
              <a:t>řeš</a:t>
            </a:r>
            <a:r>
              <a:rPr lang="cs-CZ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te následující úlohy:</a:t>
            </a:r>
          </a:p>
          <a:p>
            <a:pPr algn="l"/>
            <a:endParaRPr lang="cs-CZ" sz="2000" b="0" i="0" u="none" strike="noStrike" baseline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cs-CZ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a) Určete, zda v G1 existuje konečně nebo nekonečně mnoho různých spojení.</a:t>
            </a:r>
          </a:p>
          <a:p>
            <a:pPr algn="l"/>
            <a:r>
              <a:rPr lang="cs-CZ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b) Určete silné komponenty grafu G1.</a:t>
            </a:r>
          </a:p>
          <a:p>
            <a:pPr algn="l"/>
            <a:r>
              <a:rPr lang="cs-CZ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c) Vytvořte kondenzaci grafu G1.</a:t>
            </a:r>
          </a:p>
          <a:p>
            <a:pPr algn="l"/>
            <a:r>
              <a:rPr lang="cs-CZ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d) Je možné docílit změnou orientace jediné hrany, aby získaný graf byl silně souvislý?</a:t>
            </a:r>
            <a:endParaRPr lang="cs-CZ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3A169D40-D6F4-31D0-2F6D-30C758001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1184389"/>
            <a:ext cx="122889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CC9E12-00E1-281F-163F-95950DB3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3600" b="1">
                <a:solidFill>
                  <a:srgbClr val="FF0000"/>
                </a:solidFill>
                <a:latin typeface="Calibri"/>
                <a:cs typeface="Calibri"/>
              </a:rPr>
              <a:t>Orientované grafy</a:t>
            </a:r>
            <a:endParaRPr lang="cs-CZ" sz="3600">
              <a:ea typeface="+mj-lt"/>
              <a:cs typeface="+mj-lt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717314C1-E8B7-C734-6F3C-422605D612E0}"/>
              </a:ext>
            </a:extLst>
          </p:cNvPr>
          <p:cNvSpPr txBox="1"/>
          <p:nvPr/>
        </p:nvSpPr>
        <p:spPr>
          <a:xfrm>
            <a:off x="609197" y="1061572"/>
            <a:ext cx="827543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 dirty="0">
                <a:latin typeface="Arial"/>
                <a:cs typeface="Arial"/>
              </a:rPr>
              <a:t>2)</a:t>
            </a:r>
            <a:r>
              <a:rPr lang="cs-CZ" dirty="0">
                <a:latin typeface="Arial"/>
                <a:cs typeface="Arial"/>
              </a:rPr>
              <a:t> Pro orientovaný graf G1 z předchozí strany řešte následující úlohy: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a) Určete, zda v G1 existuje konečně  nebo nekonečně mnoho různých  spojení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b) Určete silné komponenty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c) Vytvořte kondenzaci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d) Je možné docílit změnou orientace jedné hrany, aby graf byl silně souvislý?</a:t>
            </a:r>
          </a:p>
          <a:p>
            <a:endParaRPr lang="cs-CZ" dirty="0">
              <a:cs typeface="Arial"/>
            </a:endParaRPr>
          </a:p>
          <a:p>
            <a:r>
              <a:rPr lang="cs-CZ" b="1" dirty="0">
                <a:latin typeface="Arial"/>
                <a:cs typeface="Arial"/>
              </a:rPr>
              <a:t>3)</a:t>
            </a:r>
            <a:r>
              <a:rPr lang="cs-CZ" dirty="0">
                <a:latin typeface="Arial"/>
                <a:cs typeface="Arial"/>
              </a:rPr>
              <a:t> U grafu G2 řešte následující úlohy: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a) Najděte všechny kořeny a všechny listy. 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b) Určete rozklad na silné komponenty a kondenzaci. 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c) Jak souvisejí listy a kořeny se silnými komponentami? 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d) Je graf acyklický?</a:t>
            </a:r>
          </a:p>
          <a:p>
            <a:endParaRPr lang="cs-CZ" dirty="0">
              <a:cs typeface="Arial"/>
            </a:endParaRPr>
          </a:p>
        </p:txBody>
      </p:sp>
      <p:pic>
        <p:nvPicPr>
          <p:cNvPr id="6" name="Picture 21">
            <a:extLst>
              <a:ext uri="{FF2B5EF4-FFF2-40B4-BE49-F238E27FC236}">
                <a16:creationId xmlns:a16="http://schemas.microsoft.com/office/drawing/2014/main" id="{73C9C503-65C1-DB64-062A-E00270C00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502" y="4068188"/>
            <a:ext cx="2104999" cy="2308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10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4911E4D3-9BA2-3C47-D8C9-21B1304A9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cs-CZ" sz="2000" b="1" kern="0" dirty="0">
                <a:latin typeface="Calibri"/>
                <a:cs typeface="Calibri"/>
              </a:rPr>
              <a:t>4)</a:t>
            </a:r>
            <a:r>
              <a:rPr lang="cs-CZ" sz="2000" kern="0" dirty="0">
                <a:latin typeface="Calibri"/>
                <a:cs typeface="Calibri"/>
              </a:rPr>
              <a:t> Dokažte, že kondenzace orientovaného grafu neobsahuje žádný cyklus.</a:t>
            </a:r>
          </a:p>
          <a:p>
            <a:pPr marL="0" indent="0">
              <a:buNone/>
              <a:defRPr/>
            </a:pPr>
            <a:endParaRPr lang="cs-CZ" sz="2000" kern="0" dirty="0">
              <a:latin typeface="Calibri"/>
              <a:cs typeface="Calibri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000" b="1" kern="0" dirty="0">
                <a:latin typeface="Calibri"/>
                <a:cs typeface="Calibri"/>
              </a:rPr>
              <a:t>5)</a:t>
            </a:r>
            <a:r>
              <a:rPr lang="cs-CZ" sz="2000" kern="0" dirty="0">
                <a:latin typeface="Calibri"/>
                <a:cs typeface="Calibri"/>
              </a:rPr>
              <a:t> Kondenzace grafu obsahuje jediný uzel. Jaký je původní graf?</a:t>
            </a:r>
          </a:p>
          <a:p>
            <a:pPr marL="0" indent="0">
              <a:buNone/>
              <a:defRPr/>
            </a:pPr>
            <a:endParaRPr lang="cs-CZ" sz="2000" kern="0" dirty="0">
              <a:latin typeface="Calibri"/>
              <a:cs typeface="Calibri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000" b="1" kern="0" dirty="0">
                <a:latin typeface="Calibri"/>
                <a:cs typeface="Calibri"/>
              </a:rPr>
              <a:t>6)</a:t>
            </a:r>
            <a:r>
              <a:rPr lang="cs-CZ" sz="2000" kern="0" dirty="0">
                <a:latin typeface="Calibri"/>
                <a:cs typeface="Calibri"/>
              </a:rPr>
              <a:t> Orientujte kružnici se 6 uzly tak, aby vznikl acyklický graf.</a:t>
            </a:r>
          </a:p>
          <a:p>
            <a:pPr marL="0" indent="0">
              <a:buNone/>
              <a:defRPr/>
            </a:pPr>
            <a:endParaRPr lang="cs-CZ" sz="2000" kern="0" dirty="0">
              <a:latin typeface="Calibri"/>
              <a:cs typeface="Calibri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000" b="1" kern="0" dirty="0">
                <a:latin typeface="Calibri"/>
                <a:cs typeface="Calibri"/>
              </a:rPr>
              <a:t>7)</a:t>
            </a:r>
            <a:r>
              <a:rPr lang="cs-CZ" sz="2000" kern="0" dirty="0">
                <a:latin typeface="Calibri"/>
                <a:cs typeface="Calibri"/>
              </a:rPr>
              <a:t> Nakreslete obyčejný orientovaný graf s 5 silnými komponentami, který se stane silně souvislým po změně orientace jedné určité hrany.</a:t>
            </a:r>
          </a:p>
          <a:p>
            <a:pPr marL="0" indent="0">
              <a:buNone/>
              <a:defRPr/>
            </a:pPr>
            <a:endParaRPr lang="cs-CZ" sz="2000" kern="0" dirty="0">
              <a:latin typeface="Calibri"/>
              <a:cs typeface="Calibri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000" b="1" kern="0" dirty="0">
                <a:latin typeface="Calibri"/>
                <a:cs typeface="Calibri"/>
              </a:rPr>
              <a:t>8)</a:t>
            </a:r>
            <a:r>
              <a:rPr lang="cs-CZ" sz="2000" kern="0" dirty="0">
                <a:latin typeface="Calibri"/>
                <a:cs typeface="Calibri"/>
              </a:rPr>
              <a:t> Jak se změní počet silných komponent v grafu, když všechny jeho hrany orientujeme opačně?</a:t>
            </a:r>
          </a:p>
          <a:p>
            <a:pPr marL="0" indent="0">
              <a:buNone/>
              <a:defRPr/>
            </a:pPr>
            <a:endParaRPr lang="cs-CZ" sz="2000" kern="0" dirty="0">
              <a:latin typeface="Calibri"/>
              <a:cs typeface="Calibri"/>
            </a:endParaRPr>
          </a:p>
          <a:p>
            <a:pPr marL="0" indent="0" eaLnBrk="1" hangingPunct="1">
              <a:buNone/>
              <a:defRPr/>
            </a:pPr>
            <a:r>
              <a:rPr lang="cs-CZ" sz="2000" b="1" kern="0" dirty="0">
                <a:latin typeface="Calibri"/>
                <a:cs typeface="Calibri"/>
              </a:rPr>
              <a:t>9)</a:t>
            </a:r>
            <a:r>
              <a:rPr lang="cs-CZ" sz="2000" kern="0" dirty="0">
                <a:latin typeface="Calibri"/>
                <a:cs typeface="Calibri"/>
              </a:rPr>
              <a:t> Uvažujte všechny neizomorfní kostry úplného grafu K4. </a:t>
            </a:r>
            <a:br>
              <a:rPr lang="cs-CZ" sz="2000" kern="0" dirty="0">
                <a:latin typeface="Calibri"/>
                <a:cs typeface="Calibri"/>
              </a:rPr>
            </a:br>
            <a:r>
              <a:rPr lang="cs-CZ" sz="2000" kern="0" dirty="0">
                <a:latin typeface="Calibri"/>
                <a:cs typeface="Calibri"/>
              </a:rPr>
              <a:t>Jaké je jejich minimální pokrytí - je pro všechny kostry stejné?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C85C6FFF-C84E-597B-8AF8-0ABBAA4C4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>
                <a:solidFill>
                  <a:srgbClr val="FF0000"/>
                </a:solidFill>
                <a:latin typeface="Calibri" pitchFamily="34" charset="0"/>
              </a:rPr>
              <a:t>Orientované grafy a kostry</a:t>
            </a:r>
          </a:p>
        </p:txBody>
      </p:sp>
      <p:sp>
        <p:nvSpPr>
          <p:cNvPr id="5124" name="TextovéPole 1">
            <a:extLst>
              <a:ext uri="{FF2B5EF4-FFF2-40B4-BE49-F238E27FC236}">
                <a16:creationId xmlns:a16="http://schemas.microsoft.com/office/drawing/2014/main" id="{7665004D-494C-6B53-B901-9BD12F0E1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3483EC-019D-4079-AE9B-0A9BC33F3114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cs-CZ" altLang="cs-CZ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9EC8375B-6872-32FC-08BE-CC959357C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80543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>
              <a:latin typeface="Calibri" pitchFamily="34" charset="0"/>
            </a:endParaRP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D7C52629-4A19-0448-CFCF-699FF9B99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>
                <a:solidFill>
                  <a:srgbClr val="FF0000"/>
                </a:solidFill>
                <a:latin typeface="Calibri" pitchFamily="34" charset="0"/>
              </a:rPr>
              <a:t>Orientované grafy a kostry</a:t>
            </a:r>
          </a:p>
        </p:txBody>
      </p:sp>
      <p:sp>
        <p:nvSpPr>
          <p:cNvPr id="6148" name="TextovéPole 1">
            <a:extLst>
              <a:ext uri="{FF2B5EF4-FFF2-40B4-BE49-F238E27FC236}">
                <a16:creationId xmlns:a16="http://schemas.microsoft.com/office/drawing/2014/main" id="{1F6DAEC7-56C4-C6AE-B8BA-DF5467E82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BF778A-E7E7-4CEA-BCE5-A8EBD1FAA18D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cs-CZ" altLang="cs-CZ" sz="1100"/>
          </a:p>
        </p:txBody>
      </p:sp>
      <p:sp>
        <p:nvSpPr>
          <p:cNvPr id="36" name="TextovéPole 35">
            <a:extLst>
              <a:ext uri="{FF2B5EF4-FFF2-40B4-BE49-F238E27FC236}">
                <a16:creationId xmlns:a16="http://schemas.microsoft.com/office/drawing/2014/main" id="{C2800B77-9E9C-BFC0-3030-4A6F2CD1E320}"/>
              </a:ext>
            </a:extLst>
          </p:cNvPr>
          <p:cNvSpPr txBox="1"/>
          <p:nvPr/>
        </p:nvSpPr>
        <p:spPr>
          <a:xfrm flipH="1">
            <a:off x="641440" y="1138238"/>
            <a:ext cx="60056" cy="1871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endParaRPr lang="cs-CZ" sz="1400" b="1">
              <a:latin typeface="+mj-lt"/>
              <a:cs typeface="Times New Roman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345E557-9C18-9E16-5F34-C4A4A79184F1}"/>
              </a:ext>
            </a:extLst>
          </p:cNvPr>
          <p:cNvSpPr txBox="1"/>
          <p:nvPr/>
        </p:nvSpPr>
        <p:spPr>
          <a:xfrm>
            <a:off x="671903" y="989192"/>
            <a:ext cx="832851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>
                <a:latin typeface="Arial"/>
                <a:cs typeface="Arial"/>
              </a:rPr>
              <a:t>10)</a:t>
            </a:r>
            <a:r>
              <a:rPr lang="cs-CZ">
                <a:latin typeface="Arial"/>
                <a:cs typeface="Arial"/>
              </a:rPr>
              <a:t> Je dáno 10 kostek domina s těmito počty bodů:</a:t>
            </a:r>
            <a:br>
              <a:rPr lang="cs-CZ">
                <a:latin typeface="Arial"/>
                <a:cs typeface="Arial"/>
              </a:rPr>
            </a:br>
            <a:r>
              <a:rPr lang="cs-CZ">
                <a:latin typeface="Arial"/>
                <a:cs typeface="Arial"/>
              </a:rPr>
              <a:t>       (1,2), (1,3),  (1,4),  (1,5), (2,3), (2,4), (2,5), (3,4), (3,5), (4,5)</a:t>
            </a:r>
          </a:p>
          <a:p>
            <a:r>
              <a:rPr lang="cs-CZ">
                <a:latin typeface="Arial"/>
                <a:cs typeface="Arial"/>
              </a:rPr>
              <a:t>Je možné seřadit za sebou všechny tyto kostky podle pravidel domina,</a:t>
            </a:r>
            <a:br>
              <a:rPr lang="cs-CZ">
                <a:latin typeface="Arial"/>
                <a:cs typeface="Arial"/>
              </a:rPr>
            </a:br>
            <a:r>
              <a:rPr lang="cs-CZ">
                <a:latin typeface="Arial"/>
                <a:cs typeface="Arial"/>
              </a:rPr>
              <a:t>  tj. aby se kostky dotýkaly částmi se stejným počtem bodů?</a:t>
            </a:r>
          </a:p>
          <a:p>
            <a:endParaRPr lang="cs-CZ">
              <a:latin typeface="Arial"/>
              <a:cs typeface="Arial"/>
            </a:endParaRPr>
          </a:p>
          <a:p>
            <a:r>
              <a:rPr lang="cs-CZ" b="1">
                <a:latin typeface="Arial"/>
                <a:cs typeface="Arial"/>
              </a:rPr>
              <a:t>11)</a:t>
            </a:r>
            <a:r>
              <a:rPr lang="cs-CZ">
                <a:latin typeface="Arial"/>
                <a:cs typeface="Arial"/>
              </a:rPr>
              <a:t> Kolik hran je třeba odstranit z grafu G1, aby vznikla kostra?</a:t>
            </a:r>
          </a:p>
          <a:p>
            <a:endParaRPr lang="cs-CZ">
              <a:latin typeface="Arial"/>
              <a:cs typeface="Arial"/>
            </a:endParaRPr>
          </a:p>
          <a:p>
            <a:r>
              <a:rPr lang="cs-CZ" b="1">
                <a:latin typeface="Arial"/>
                <a:cs typeface="Arial"/>
              </a:rPr>
              <a:t>12)</a:t>
            </a:r>
            <a:r>
              <a:rPr lang="cs-CZ">
                <a:latin typeface="Arial"/>
                <a:cs typeface="Arial"/>
              </a:rPr>
              <a:t> Kolik může mít maximálně resp. minimálně listů neorientovaný strom </a:t>
            </a:r>
            <a:br>
              <a:rPr lang="cs-CZ">
                <a:latin typeface="Arial"/>
                <a:cs typeface="Arial"/>
              </a:rPr>
            </a:br>
            <a:r>
              <a:rPr lang="cs-CZ">
                <a:latin typeface="Arial"/>
                <a:cs typeface="Arial"/>
              </a:rPr>
              <a:t>       o </a:t>
            </a:r>
            <a:r>
              <a:rPr lang="cs-CZ" i="1">
                <a:latin typeface="Arial"/>
                <a:cs typeface="Arial"/>
              </a:rPr>
              <a:t>n</a:t>
            </a:r>
            <a:r>
              <a:rPr lang="cs-CZ">
                <a:latin typeface="Arial"/>
                <a:cs typeface="Arial"/>
              </a:rPr>
              <a:t> uzlech?</a:t>
            </a:r>
          </a:p>
          <a:p>
            <a:endParaRPr lang="cs-CZ">
              <a:latin typeface="Arial"/>
              <a:cs typeface="Arial"/>
            </a:endParaRPr>
          </a:p>
          <a:p>
            <a:r>
              <a:rPr lang="cs-CZ" b="1">
                <a:latin typeface="Arial"/>
                <a:cs typeface="Arial"/>
              </a:rPr>
              <a:t>13)</a:t>
            </a:r>
            <a:r>
              <a:rPr lang="cs-CZ">
                <a:latin typeface="Arial"/>
                <a:cs typeface="Arial"/>
              </a:rPr>
              <a:t> Kolika tahy lze pokrýt graf G2? Nalezněte takovou jeho kostru, aby ji bylo možné pokrýt co nejmenším počtem tahů.</a:t>
            </a:r>
          </a:p>
        </p:txBody>
      </p:sp>
      <p:pic>
        <p:nvPicPr>
          <p:cNvPr id="2" name="Obrázek 3">
            <a:extLst>
              <a:ext uri="{FF2B5EF4-FFF2-40B4-BE49-F238E27FC236}">
                <a16:creationId xmlns:a16="http://schemas.microsoft.com/office/drawing/2014/main" id="{4E457470-ED51-513C-F149-447008192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75328"/>
            <a:ext cx="7444595" cy="1764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BB904C1B-9803-26DF-6D04-DE8171DAE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cs-CZ" sz="2400" b="1" kern="0" dirty="0">
                <a:latin typeface="Calibri"/>
                <a:cs typeface="Calibri"/>
              </a:rPr>
              <a:t>14)</a:t>
            </a:r>
            <a:r>
              <a:rPr lang="cs-CZ" sz="2400" kern="0" dirty="0">
                <a:latin typeface="Calibri"/>
                <a:cs typeface="Calibri"/>
              </a:rPr>
              <a:t> Nakreslete binární stromy s počtem listů rovným 3, 4, 7 a 9 tak, aby hloubka stromu byla vždy co nejmenší.</a:t>
            </a:r>
            <a:endParaRPr lang="cs-CZ" dirty="0">
              <a:latin typeface="Calibri"/>
              <a:cs typeface="Calibri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1400" kern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b="1" kern="0" dirty="0">
                <a:latin typeface="Calibri"/>
                <a:cs typeface="Calibri"/>
              </a:rPr>
              <a:t>15)</a:t>
            </a:r>
            <a:r>
              <a:rPr lang="cs-CZ" sz="2400" kern="0" dirty="0">
                <a:latin typeface="Calibri"/>
                <a:cs typeface="Calibri"/>
              </a:rPr>
              <a:t> Lze sestrojit neplanární strom?</a:t>
            </a:r>
          </a:p>
          <a:p>
            <a:pPr marL="0" indent="0">
              <a:buFont typeface="Wingdings" pitchFamily="2" charset="2"/>
              <a:buNone/>
              <a:defRPr/>
            </a:pPr>
            <a:endParaRPr lang="cs-CZ" sz="2400" kern="0">
              <a:latin typeface="Calibri" pitchFamily="34" charset="0"/>
              <a:cs typeface="Calibri"/>
            </a:endParaRPr>
          </a:p>
          <a:p>
            <a:pPr marL="0" indent="0">
              <a:buNone/>
              <a:defRPr/>
            </a:pPr>
            <a:r>
              <a:rPr lang="cs-CZ" sz="2400" b="1" kern="0" dirty="0">
                <a:latin typeface="Calibri"/>
                <a:cs typeface="Calibri"/>
              </a:rPr>
              <a:t>16</a:t>
            </a:r>
            <a:r>
              <a:rPr lang="cs-CZ" sz="2400" kern="0" dirty="0">
                <a:latin typeface="Calibri"/>
                <a:cs typeface="Calibri"/>
              </a:rPr>
              <a:t>) Projděte graf G pomocí metody </a:t>
            </a:r>
            <a:br>
              <a:rPr lang="cs-CZ" sz="2400" kern="0" dirty="0">
                <a:latin typeface="Calibri"/>
                <a:cs typeface="Calibri"/>
              </a:rPr>
            </a:br>
            <a:r>
              <a:rPr lang="cs-CZ" sz="2400" kern="0" dirty="0">
                <a:latin typeface="Calibri"/>
                <a:cs typeface="Calibri"/>
              </a:rPr>
              <a:t>    a) </a:t>
            </a:r>
            <a:r>
              <a:rPr lang="cs-CZ" sz="2400" kern="0" dirty="0" err="1">
                <a:latin typeface="Calibri"/>
                <a:cs typeface="Calibri"/>
              </a:rPr>
              <a:t>pre-order</a:t>
            </a:r>
            <a:br>
              <a:rPr lang="cs-CZ" sz="2400" kern="0" dirty="0">
                <a:latin typeface="Calibri"/>
                <a:cs typeface="Calibri"/>
              </a:rPr>
            </a:br>
            <a:r>
              <a:rPr lang="cs-CZ" sz="2400" kern="0" dirty="0">
                <a:latin typeface="Calibri"/>
                <a:cs typeface="Calibri"/>
              </a:rPr>
              <a:t>    b) in-</a:t>
            </a:r>
            <a:r>
              <a:rPr lang="cs-CZ" sz="2400" kern="0" dirty="0" err="1">
                <a:latin typeface="Calibri"/>
                <a:cs typeface="Calibri"/>
              </a:rPr>
              <a:t>order</a:t>
            </a:r>
            <a:br>
              <a:rPr lang="cs-CZ" sz="2400" kern="0" dirty="0">
                <a:latin typeface="Calibri"/>
                <a:cs typeface="Calibri"/>
              </a:rPr>
            </a:br>
            <a:r>
              <a:rPr lang="cs-CZ" sz="2400" kern="0" dirty="0">
                <a:latin typeface="Calibri"/>
                <a:cs typeface="Calibri"/>
              </a:rPr>
              <a:t>    c) post-</a:t>
            </a:r>
            <a:r>
              <a:rPr lang="cs-CZ" sz="2400" kern="0" dirty="0" err="1">
                <a:latin typeface="Calibri"/>
                <a:cs typeface="Calibri"/>
              </a:rPr>
              <a:t>order</a:t>
            </a:r>
            <a:br>
              <a:rPr lang="cs-CZ" sz="2400" kern="0" dirty="0">
                <a:latin typeface="Calibri"/>
                <a:cs typeface="Calibri"/>
              </a:rPr>
            </a:br>
            <a:br>
              <a:rPr lang="cs-CZ" sz="2400" kern="0" dirty="0">
                <a:latin typeface="Calibri" pitchFamily="34" charset="0"/>
                <a:cs typeface="Calibri" pitchFamily="34" charset="0"/>
              </a:rPr>
            </a:br>
            <a:r>
              <a:rPr lang="cs-CZ" sz="2400" kern="0" dirty="0">
                <a:latin typeface="Calibri"/>
                <a:cs typeface="Calibri"/>
              </a:rPr>
              <a:t>Vypište posloupnost uzlů</a:t>
            </a:r>
            <a:endParaRPr lang="cs-CZ" sz="2400" kern="0" dirty="0">
              <a:latin typeface="Calibri"/>
              <a:ea typeface="+mn-lt"/>
              <a:cs typeface="Calibri"/>
            </a:endParaRPr>
          </a:p>
          <a:p>
            <a:pPr marL="0" indent="0">
              <a:buNone/>
              <a:defRPr/>
            </a:pPr>
            <a:endParaRPr lang="cs-CZ" sz="2400" kern="0" dirty="0">
              <a:latin typeface="Calibri" pitchFamily="34" charset="0"/>
              <a:cs typeface="Calibri" pitchFamily="34" charset="0"/>
            </a:endParaRPr>
          </a:p>
          <a:p>
            <a:pPr marL="0" indent="0" eaLnBrk="1" hangingPunct="1">
              <a:buNone/>
              <a:defRPr/>
            </a:pPr>
            <a:endParaRPr lang="cs-CZ" sz="2400" ker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352452A1-225F-D598-6EB2-9D9C21988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>
                <a:solidFill>
                  <a:srgbClr val="FF0000"/>
                </a:solidFill>
                <a:latin typeface="Calibri" pitchFamily="34" charset="0"/>
              </a:rPr>
              <a:t>Vlastnosti grafů</a:t>
            </a:r>
          </a:p>
        </p:txBody>
      </p:sp>
      <p:sp>
        <p:nvSpPr>
          <p:cNvPr id="4100" name="TextovéPole 1">
            <a:extLst>
              <a:ext uri="{FF2B5EF4-FFF2-40B4-BE49-F238E27FC236}">
                <a16:creationId xmlns:a16="http://schemas.microsoft.com/office/drawing/2014/main" id="{F1FA02E4-2862-ED9A-6A46-1A66424D6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1301C48-7C3F-4CC2-9634-A5A290F9634A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cs-CZ" altLang="cs-CZ" sz="1100"/>
          </a:p>
        </p:txBody>
      </p:sp>
      <p:pic>
        <p:nvPicPr>
          <p:cNvPr id="2" name="Obrázek 2">
            <a:extLst>
              <a:ext uri="{FF2B5EF4-FFF2-40B4-BE49-F238E27FC236}">
                <a16:creationId xmlns:a16="http://schemas.microsoft.com/office/drawing/2014/main" id="{5F364703-8623-9F4A-6565-718953D42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49" y="4179401"/>
            <a:ext cx="3260784" cy="22804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rstvy">
  <a:themeElements>
    <a:clrScheme name="Vrstvy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Vrstvy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rstvy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1</TotalTime>
  <Words>479</Words>
  <Application>Microsoft Office PowerPoint</Application>
  <PresentationFormat>Předvádění na obrazovce (4:3)</PresentationFormat>
  <Paragraphs>52</Paragraphs>
  <Slides>6</Slides>
  <Notes>4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7" baseType="lpstr">
      <vt:lpstr>Vrstvy</vt:lpstr>
      <vt:lpstr>Diskrétní struktury</vt:lpstr>
      <vt:lpstr>Orientované grafy</vt:lpstr>
      <vt:lpstr>Orientované grafy</vt:lpstr>
      <vt:lpstr>Orientované grafy a kostry</vt:lpstr>
      <vt:lpstr>Orientované grafy a kostry</vt:lpstr>
      <vt:lpstr>Vlastnosti grafů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</dc:title>
  <dc:creator>doc. Ing. Zbyněk Bureš, Ph.D.</dc:creator>
  <cp:lastModifiedBy>Lenka Kuklišová</cp:lastModifiedBy>
  <cp:revision>11</cp:revision>
  <dcterms:created xsi:type="dcterms:W3CDTF">2009-09-01T07:13:17Z</dcterms:created>
  <dcterms:modified xsi:type="dcterms:W3CDTF">2022-12-23T15:59:48Z</dcterms:modified>
</cp:coreProperties>
</file>