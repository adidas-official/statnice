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7A612-5D96-4215-0FF8-9F371D43ABC1}" v="190" dt="2022-12-07T19:24:30.986"/>
    <p1510:client id="{AB3B03F3-188F-35E4-369D-0E0B4F677331}" v="3" dt="2022-12-23T16:17:47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0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6897BD5-ECEF-DEC5-A6DE-747C78857D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E1F7431-15F0-466D-4736-18751CF68C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3C32475F-2F09-D31F-9456-2BBF034F433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C327082-3044-A80B-7681-05D67B44F42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750266F-1338-4606-A453-84FB60175B93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23T16:13:40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20217 3464 1247 0 0,'-8'-24'-288'0'0,"-3"-24"-32"0"0,-15-11 32 0 0,-4-13 32 0 0,4 7 256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23T16:13:40.1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12300 9993 9439 0 0,'0'-8'768'0'0,"0"-10"2560"0"0,0 5 2688 0 0,8 13-5984 0 0,3 15 0 0 0,-1 12 32 0 0,6 11-32 0 0,1 5 32 0 0,5 13 0 0 0,-2 4-32 0 0,5 8 32 0 0,-3 8-32 0 0,4 8 0 0 0,-3-3 0 0 0,2 1 0 0 0,-2-6 0 0 0,-6 1 0 0 0,2-5-32 0 0,-1-7 0 0 0,3-6 0 0 0,-1-6-32 0 0,-4-3 32 0 0,-5-2-32 0 0,3-10 64 0 0,0-3-64 0 0,6-7 0 0 0,-2-17 64 0 0,-3-18-32 0 0,-4-16 32 0 0,-4-12-64 0 0,-3-8 32 0 0,-3-5-64 0 0,0-2 0 0 0,-2 0 32 0 0,0 16-448 0 0,0 21 448 0 0,1 22-64 0 0,-1 17-64 0 0,1 12-32 0 0,0-9-1088 0 0,0 0 832 0 0,0-7 448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3498E7C3-D4BB-3B6F-C860-7DC2EBF09B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752BDD9-6384-9D3E-840B-2D662E3464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A9D0999-DC6F-496E-B30F-DBAE7A8A42BB}" type="datetimeFigureOut">
              <a:rPr lang="cs-CZ"/>
              <a:pPr>
                <a:defRPr/>
              </a:pPr>
              <a:t>23.12.2022</a:t>
            </a:fld>
            <a:endParaRPr lang="cs-CZ"/>
          </a:p>
        </p:txBody>
      </p:sp>
      <p:sp>
        <p:nvSpPr>
          <p:cNvPr id="4" name="Zástupný symbol pro obrázek snímku 3">
            <a:extLst>
              <a:ext uri="{FF2B5EF4-FFF2-40B4-BE49-F238E27FC236}">
                <a16:creationId xmlns:a16="http://schemas.microsoft.com/office/drawing/2014/main" id="{11FFD0E8-5135-C528-40EB-20723AB36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>
            <a:extLst>
              <a:ext uri="{FF2B5EF4-FFF2-40B4-BE49-F238E27FC236}">
                <a16:creationId xmlns:a16="http://schemas.microsoft.com/office/drawing/2014/main" id="{F35BD186-3E56-AA82-AB84-2C8D8B770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Kliknutím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096A4B3-E075-3DC3-921C-B64F64EDF3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D2A0F76-148D-C88E-3031-34C85F888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0E23F26-377E-4435-A3FD-D9434002CB42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Zástupný symbol pro obrázek snímku 1">
            <a:extLst>
              <a:ext uri="{FF2B5EF4-FFF2-40B4-BE49-F238E27FC236}">
                <a16:creationId xmlns:a16="http://schemas.microsoft.com/office/drawing/2014/main" id="{F461B5B0-DC45-2C5B-CBC1-25409C46B1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Zástupný symbol pro poznámky 2">
            <a:extLst>
              <a:ext uri="{FF2B5EF4-FFF2-40B4-BE49-F238E27FC236}">
                <a16:creationId xmlns:a16="http://schemas.microsoft.com/office/drawing/2014/main" id="{06B3CB92-478D-7A92-83CA-ABC1A6D52F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8196" name="Zástupný symbol pro číslo snímku 3">
            <a:extLst>
              <a:ext uri="{FF2B5EF4-FFF2-40B4-BE49-F238E27FC236}">
                <a16:creationId xmlns:a16="http://schemas.microsoft.com/office/drawing/2014/main" id="{39165545-7154-FB9E-E99F-7DB3B970C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8FDA305-640D-47D4-A870-CB857E4CF7CC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Zástupný symbol pro obrázek snímku 1">
            <a:extLst>
              <a:ext uri="{FF2B5EF4-FFF2-40B4-BE49-F238E27FC236}">
                <a16:creationId xmlns:a16="http://schemas.microsoft.com/office/drawing/2014/main" id="{A09EAE77-A4B8-2328-DDCC-A48BED3D76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Zástupný symbol pro poznámky 2">
            <a:extLst>
              <a:ext uri="{FF2B5EF4-FFF2-40B4-BE49-F238E27FC236}">
                <a16:creationId xmlns:a16="http://schemas.microsoft.com/office/drawing/2014/main" id="{AABC547D-3838-E67A-68D3-E04DC4B273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9220" name="Zástupný symbol pro číslo snímku 3">
            <a:extLst>
              <a:ext uri="{FF2B5EF4-FFF2-40B4-BE49-F238E27FC236}">
                <a16:creationId xmlns:a16="http://schemas.microsoft.com/office/drawing/2014/main" id="{8DB4E6B4-F6F8-F9F8-EAFB-A4B349C97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96AD0A3-6B32-44D0-A20A-78B1FF9E3AF0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Zástupný symbol pro obrázek snímku 1">
            <a:extLst>
              <a:ext uri="{FF2B5EF4-FFF2-40B4-BE49-F238E27FC236}">
                <a16:creationId xmlns:a16="http://schemas.microsoft.com/office/drawing/2014/main" id="{DEBDC0D2-B1A3-BFFF-75A2-A2D21F6A39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Zástupný symbol pro poznámky 2">
            <a:extLst>
              <a:ext uri="{FF2B5EF4-FFF2-40B4-BE49-F238E27FC236}">
                <a16:creationId xmlns:a16="http://schemas.microsoft.com/office/drawing/2014/main" id="{2448CB55-3C38-A741-CFAA-0F85907F94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0244" name="Zástupný symbol pro číslo snímku 3">
            <a:extLst>
              <a:ext uri="{FF2B5EF4-FFF2-40B4-BE49-F238E27FC236}">
                <a16:creationId xmlns:a16="http://schemas.microsoft.com/office/drawing/2014/main" id="{ED2B5ABF-718A-017F-2AB2-225AD03F9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EBCEBA7-F27B-456B-9016-5E84B255594A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57AD777-1A75-6C1D-3E48-EB65E7502EB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7DC29DF-63C2-B612-D86C-C20FC57DD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6C03A49-7D85-2081-5481-C1ACA56E77D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1092AC60-9BEC-AA4F-AE12-2192BC082911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7AC51036-0042-C1BB-1B32-1BA596673E3C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14FB43B2-2E75-08C9-3908-DE3542B8C0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90CFA917-FFDA-9E54-14B9-7D2EF2FFBBD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AA687AD2-4833-30D9-2531-B779A8C98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77E9E1C4-5852-050E-B8A7-89BE21F07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56B5D0D0-7E39-5A99-1B9C-9E43A7DC1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839A39C-4BCF-1190-5F88-58B40CBEEA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8B103369-AE82-CE2D-86AD-BE1307D7E3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DBD59CD0-463D-4328-A353-30D1330B0D66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063739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676255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89425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88978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414941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424297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861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74768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49809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6130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2012" cy="6858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11188" y="0"/>
            <a:ext cx="6248400" cy="6858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63463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188" y="0"/>
            <a:ext cx="8532812" cy="836613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27087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D5114120-812A-19CD-B992-D0AF32C87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cs-CZ" altLang="cs-CZ" sz="2400">
              <a:latin typeface="Times New Roman" charset="0"/>
            </a:endParaRPr>
          </a:p>
        </p:txBody>
      </p:sp>
      <p:grpSp>
        <p:nvGrpSpPr>
          <p:cNvPr id="1027" name="Group 4">
            <a:extLst>
              <a:ext uri="{FF2B5EF4-FFF2-40B4-BE49-F238E27FC236}">
                <a16:creationId xmlns:a16="http://schemas.microsoft.com/office/drawing/2014/main" id="{8E27832D-BD72-4142-4D89-25C53F4E4CE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6613"/>
            <a:ext cx="8305800" cy="182562"/>
            <a:chOff x="240" y="893"/>
            <a:chExt cx="5232" cy="115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45D6E97F-E974-BDEB-D9D1-ACC60B4D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9B9888B0-1C36-2B29-A46B-110AB4572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41E92B4F-9057-84CF-C06A-DF1748719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0"/>
            <a:ext cx="85328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0FAF0B0-E349-8789-A953-E5EA68EFC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4BB9F2B3-9BF9-BBB8-49C8-CBD43388B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169EF3F-BB8F-D6D4-5065-A59732290D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Diskrétní struktury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D821BC6-827D-5EE1-0679-5D13DB55FD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cs-CZ">
                <a:latin typeface="Calibri" panose="020F0502020204030204" pitchFamily="34" charset="0"/>
              </a:rPr>
              <a:t>Cvičení 12</a:t>
            </a:r>
          </a:p>
          <a:p>
            <a:pPr eaLnBrk="1" hangingPunct="1"/>
            <a:r>
              <a:rPr lang="cs-CZ" altLang="cs-CZ" b="1" dirty="0">
                <a:latin typeface="Calibri" panose="020F0502020204030204" pitchFamily="34" charset="0"/>
              </a:rPr>
              <a:t>Grafové algoritmy (1)</a:t>
            </a:r>
          </a:p>
        </p:txBody>
      </p:sp>
      <p:pic>
        <p:nvPicPr>
          <p:cNvPr id="3076" name="Obrázek 1">
            <a:extLst>
              <a:ext uri="{FF2B5EF4-FFF2-40B4-BE49-F238E27FC236}">
                <a16:creationId xmlns:a16="http://schemas.microsoft.com/office/drawing/2014/main" id="{4FE3D2A5-028D-4112-8182-74773ACE4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789363"/>
            <a:ext cx="15240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3">
            <a:extLst>
              <a:ext uri="{FF2B5EF4-FFF2-40B4-BE49-F238E27FC236}">
                <a16:creationId xmlns:a16="http://schemas.microsoft.com/office/drawing/2014/main" id="{70359BDF-44AA-BCEC-900D-7D457DD3D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981075"/>
            <a:ext cx="8067675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">
            <a:extLst>
              <a:ext uri="{FF2B5EF4-FFF2-40B4-BE49-F238E27FC236}">
                <a16:creationId xmlns:a16="http://schemas.microsoft.com/office/drawing/2014/main" id="{93437586-E67C-1B76-47E0-5F6C3055C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b="1" kern="0" dirty="0">
                <a:latin typeface="Calibri" pitchFamily="34" charset="0"/>
              </a:rPr>
              <a:t> </a:t>
            </a:r>
            <a:endParaRPr lang="cs-CZ" sz="2400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 dirty="0">
              <a:latin typeface="Calibri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D88A8F1-F54D-0513-F579-6A15AB530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Grafové algoritmy – prohledání do šířky</a:t>
            </a:r>
          </a:p>
        </p:txBody>
      </p:sp>
      <p:sp>
        <p:nvSpPr>
          <p:cNvPr id="4101" name="TextovéPole 1">
            <a:extLst>
              <a:ext uri="{FF2B5EF4-FFF2-40B4-BE49-F238E27FC236}">
                <a16:creationId xmlns:a16="http://schemas.microsoft.com/office/drawing/2014/main" id="{7EF2041B-3C8F-53E7-5FB0-80CA2B35B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7C0AF7-A6DD-4BE3-A23F-2BD8EF9DDDBA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cs-CZ" altLang="cs-CZ" sz="1100"/>
          </a:p>
        </p:txBody>
      </p:sp>
      <p:sp>
        <p:nvSpPr>
          <p:cNvPr id="44" name="TextovéPole 43">
            <a:extLst>
              <a:ext uri="{FF2B5EF4-FFF2-40B4-BE49-F238E27FC236}">
                <a16:creationId xmlns:a16="http://schemas.microsoft.com/office/drawing/2014/main" id="{91E3CBBB-8CEE-1DC2-4392-F7BC7DCFE645}"/>
              </a:ext>
            </a:extLst>
          </p:cNvPr>
          <p:cNvSpPr txBox="1"/>
          <p:nvPr/>
        </p:nvSpPr>
        <p:spPr>
          <a:xfrm>
            <a:off x="684213" y="1077913"/>
            <a:ext cx="658812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cs-CZ" sz="1400" b="1" dirty="0">
                <a:latin typeface="+mj-lt"/>
              </a:rPr>
              <a:t>Příklad</a:t>
            </a:r>
          </a:p>
        </p:txBody>
      </p:sp>
      <p:pic>
        <p:nvPicPr>
          <p:cNvPr id="4103" name="Picture 24">
            <a:extLst>
              <a:ext uri="{FF2B5EF4-FFF2-40B4-BE49-F238E27FC236}">
                <a16:creationId xmlns:a16="http://schemas.microsoft.com/office/drawing/2014/main" id="{59692A49-E0E4-99E0-3834-533597B52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20" y="1595408"/>
            <a:ext cx="7717765" cy="5130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>
            <a:extLst>
              <a:ext uri="{FF2B5EF4-FFF2-40B4-BE49-F238E27FC236}">
                <a16:creationId xmlns:a16="http://schemas.microsoft.com/office/drawing/2014/main" id="{10F0226F-D517-33A1-22E5-92B61C8E4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1112838"/>
            <a:ext cx="8161337" cy="118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">
            <a:extLst>
              <a:ext uri="{FF2B5EF4-FFF2-40B4-BE49-F238E27FC236}">
                <a16:creationId xmlns:a16="http://schemas.microsoft.com/office/drawing/2014/main" id="{9CD7AC1A-B554-ABFD-F0E8-FB85453DA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b="1" kern="0" dirty="0">
                <a:latin typeface="Calibri" pitchFamily="34" charset="0"/>
              </a:rPr>
              <a:t>  </a:t>
            </a:r>
            <a:endParaRPr lang="cs-CZ" sz="2400" kern="0" dirty="0">
              <a:latin typeface="Calibri" pitchFamily="34" charset="0"/>
            </a:endParaRP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65F99A6F-B95D-37F6-0CEF-43A2D400B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Grafové algoritmy – prohledání do hloubky</a:t>
            </a:r>
          </a:p>
        </p:txBody>
      </p:sp>
      <p:sp>
        <p:nvSpPr>
          <p:cNvPr id="5125" name="TextovéPole 1">
            <a:extLst>
              <a:ext uri="{FF2B5EF4-FFF2-40B4-BE49-F238E27FC236}">
                <a16:creationId xmlns:a16="http://schemas.microsoft.com/office/drawing/2014/main" id="{D7B5DBB6-09AF-914D-5A57-D6BA9BF56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DBEBF27-7641-4839-B98C-0DB08795EE7B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cs-CZ" altLang="cs-CZ" sz="110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20A92D39-95B5-66D8-4201-352CCE2DB419}"/>
              </a:ext>
            </a:extLst>
          </p:cNvPr>
          <p:cNvSpPr txBox="1"/>
          <p:nvPr/>
        </p:nvSpPr>
        <p:spPr>
          <a:xfrm>
            <a:off x="773113" y="1316038"/>
            <a:ext cx="658812" cy="214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cs-CZ" sz="1400" b="1" dirty="0">
                <a:latin typeface="+mj-lt"/>
              </a:rPr>
              <a:t>Příklad</a:t>
            </a:r>
          </a:p>
        </p:txBody>
      </p:sp>
      <p:pic>
        <p:nvPicPr>
          <p:cNvPr id="5127" name="Picture 4">
            <a:extLst>
              <a:ext uri="{FF2B5EF4-FFF2-40B4-BE49-F238E27FC236}">
                <a16:creationId xmlns:a16="http://schemas.microsoft.com/office/drawing/2014/main" id="{2A36BFD0-E75C-67CA-CAB6-BAD1CC488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2414588"/>
            <a:ext cx="42418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Rukopis 35">
                <a:extLst>
                  <a:ext uri="{FF2B5EF4-FFF2-40B4-BE49-F238E27FC236}">
                    <a16:creationId xmlns:a16="http://schemas.microsoft.com/office/drawing/2014/main" id="{76DED7CA-843A-E637-000C-39539F273AEE}"/>
                  </a:ext>
                </a:extLst>
              </p14:cNvPr>
              <p14:cNvContentPartPr/>
              <p14:nvPr/>
            </p14:nvContentPartPr>
            <p14:xfrm>
              <a:off x="6421044" y="1414475"/>
              <a:ext cx="36112" cy="96560"/>
            </p14:xfrm>
          </p:contentPart>
        </mc:Choice>
        <mc:Fallback xmlns="">
          <p:pic>
            <p:nvPicPr>
              <p:cNvPr id="36" name="Rukopis 35">
                <a:extLst>
                  <a:ext uri="{FF2B5EF4-FFF2-40B4-BE49-F238E27FC236}">
                    <a16:creationId xmlns:a16="http://schemas.microsoft.com/office/drawing/2014/main" id="{76DED7CA-843A-E637-000C-39539F273A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3167" y="1396527"/>
                <a:ext cx="71509" cy="132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05" name="Rukopis 4104">
                <a:extLst>
                  <a:ext uri="{FF2B5EF4-FFF2-40B4-BE49-F238E27FC236}">
                    <a16:creationId xmlns:a16="http://schemas.microsoft.com/office/drawing/2014/main" id="{E6B224AD-1879-54C6-768F-F09F9829B9E9}"/>
                  </a:ext>
                </a:extLst>
              </p14:cNvPr>
              <p14:cNvContentPartPr/>
              <p14:nvPr/>
            </p14:nvContentPartPr>
            <p14:xfrm>
              <a:off x="1919022" y="5306846"/>
              <a:ext cx="170691" cy="447159"/>
            </p14:xfrm>
          </p:contentPart>
        </mc:Choice>
        <mc:Fallback xmlns="">
          <p:pic>
            <p:nvPicPr>
              <p:cNvPr id="4105" name="Rukopis 4104">
                <a:extLst>
                  <a:ext uri="{FF2B5EF4-FFF2-40B4-BE49-F238E27FC236}">
                    <a16:creationId xmlns:a16="http://schemas.microsoft.com/office/drawing/2014/main" id="{E6B224AD-1879-54C6-768F-F09F9829B9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01055" y="5289219"/>
                <a:ext cx="206267" cy="48277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6D0CE85A-1679-129F-E159-B0017C6C9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b="1" kern="0" dirty="0">
                <a:latin typeface="Calibri" pitchFamily="34" charset="0"/>
              </a:rPr>
              <a:t>Příklad:</a:t>
            </a:r>
            <a:r>
              <a:rPr lang="cs-CZ" sz="2400" kern="0" dirty="0">
                <a:latin typeface="Calibri" pitchFamily="34" charset="0"/>
              </a:rPr>
              <a:t> Vytvořte úplný binární strom hloubky 2 (7 uzlů) a ukažte jeho průchod do šířky a do hloubky.  </a:t>
            </a:r>
            <a:r>
              <a:rPr lang="cs-CZ" sz="2400" kern="0">
                <a:latin typeface="Calibri" pitchFamily="34" charset="0"/>
              </a:rPr>
              <a:t>Průchod </a:t>
            </a:r>
            <a:r>
              <a:rPr lang="cs-CZ" sz="2400" kern="0" dirty="0">
                <a:latin typeface="Calibri" pitchFamily="34" charset="0"/>
              </a:rPr>
              <a:t>do šířky - šíření vlny stejně vzdálených uzlů; průchod do hloubky - postupné procházení bludiště s návraty do dosud neúplně prozkoumaných křižovatek.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C77B0BFC-F3DE-3D68-3C7A-FF0941E43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Grafové algoritmy – prohledání do šířky </a:t>
            </a:r>
            <a:r>
              <a:rPr lang="cs-CZ" sz="3200" b="1" kern="1200">
                <a:solidFill>
                  <a:srgbClr val="FF0000"/>
                </a:solidFill>
                <a:latin typeface="Calibri" pitchFamily="34" charset="0"/>
              </a:rPr>
              <a:t>i hloubky</a:t>
            </a:r>
            <a:endParaRPr lang="cs-CZ" sz="3200" b="1" kern="12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6148" name="TextovéPole 1">
            <a:extLst>
              <a:ext uri="{FF2B5EF4-FFF2-40B4-BE49-F238E27FC236}">
                <a16:creationId xmlns:a16="http://schemas.microsoft.com/office/drawing/2014/main" id="{F8DF7DA9-AF9B-3DEB-A3AD-E76302D97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4A92700-ACAC-430E-A602-06E20EC6A55C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cs-CZ" altLang="cs-CZ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rstvy">
  <a:themeElements>
    <a:clrScheme name="Vrstvy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Vrstvy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rstvy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2095</TotalTime>
  <Words>86</Words>
  <Application>Microsoft Office PowerPoint</Application>
  <PresentationFormat>Předvádění na obrazovce (4:3)</PresentationFormat>
  <Paragraphs>17</Paragraphs>
  <Slides>4</Slides>
  <Notes>3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5" baseType="lpstr">
      <vt:lpstr>Vrstvy</vt:lpstr>
      <vt:lpstr>Diskrétní struktury</vt:lpstr>
      <vt:lpstr>Grafové algoritmy – prohledání do šířky</vt:lpstr>
      <vt:lpstr>Grafové algoritmy – prohledání do hloubky</vt:lpstr>
      <vt:lpstr>Grafové algoritmy – prohledání do šířky i hloubky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</dc:title>
  <dc:creator>doc. Ing. Zbyněk Bureš, Ph.D.</dc:creator>
  <cp:lastModifiedBy>Lenka Kuklišová</cp:lastModifiedBy>
  <cp:revision>435</cp:revision>
  <dcterms:created xsi:type="dcterms:W3CDTF">2009-09-01T07:13:17Z</dcterms:created>
  <dcterms:modified xsi:type="dcterms:W3CDTF">2022-12-23T16:21:54Z</dcterms:modified>
</cp:coreProperties>
</file>